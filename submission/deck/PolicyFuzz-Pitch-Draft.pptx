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89db2b33ab84655" /><Relationship Type="http://schemas.openxmlformats.org/officeDocument/2006/relationships/extended-properties" Target="/docProps/app.xml" Id="Rdff62718f47f437a" /><Relationship Type="http://schemas.openxmlformats.org/officeDocument/2006/relationships/officeDocument" Target="/ppt/presentation.xml" Id="R4d8cbed4598b41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a1175fb6d544b8"/>
  </p:sldMasterIdLst>
  <p:notesMasterIdLst>
    <p:notesMasterId xmlns:r="http://schemas.openxmlformats.org/officeDocument/2006/relationships" r:id="R8c281c3e069642fa"/>
  </p:notesMasterIdLst>
  <p:sldIdLst>
    <p:sldId xmlns:r="http://schemas.openxmlformats.org/officeDocument/2006/relationships" id="256" r:id="R91e4ac0f30c64aeb"/>
    <p:sldId xmlns:r="http://schemas.openxmlformats.org/officeDocument/2006/relationships" id="257" r:id="R28aaf402cd4b41ef"/>
    <p:sldId xmlns:r="http://schemas.openxmlformats.org/officeDocument/2006/relationships" id="258" r:id="Rc4b768cdb0ff4183"/>
    <p:sldId xmlns:r="http://schemas.openxmlformats.org/officeDocument/2006/relationships" id="259" r:id="R780ac531285541af"/>
    <p:sldId xmlns:r="http://schemas.openxmlformats.org/officeDocument/2006/relationships" id="260" r:id="Rdca767b362784f36"/>
    <p:sldId xmlns:r="http://schemas.openxmlformats.org/officeDocument/2006/relationships" id="261" r:id="R740c359cfdc24201"/>
    <p:sldId xmlns:r="http://schemas.openxmlformats.org/officeDocument/2006/relationships" id="262" r:id="R6de24ba56b834d8d"/>
    <p:sldId xmlns:r="http://schemas.openxmlformats.org/officeDocument/2006/relationships" id="263" r:id="R62cd59835c384293"/>
    <p:sldId xmlns:r="http://schemas.openxmlformats.org/officeDocument/2006/relationships" id="264" r:id="R61d6dcafa3524cb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a207903c864848" /><Relationship Type="http://schemas.openxmlformats.org/officeDocument/2006/relationships/slideMaster" Target="/ppt/slideMasters/slideMaster1.xml" Id="Ra0a1175fb6d544b8" /><Relationship Type="http://schemas.openxmlformats.org/officeDocument/2006/relationships/notesMaster" Target="/ppt/notesMasters/notesMaster1.xml" Id="R8c281c3e069642fa" /><Relationship Type="http://schemas.openxmlformats.org/officeDocument/2006/relationships/presProps" Target="/ppt/presProps.xml" Id="R8b7f8cddd2f94af3" /><Relationship Type="http://schemas.openxmlformats.org/officeDocument/2006/relationships/tableStyles" Target="/ppt/tableStyles.xml" Id="R1ac6f16d854f4304" /><Relationship Type="http://schemas.openxmlformats.org/officeDocument/2006/relationships/slide" Target="/ppt/slides/slide1.xml" Id="R91e4ac0f30c64aeb" /><Relationship Type="http://schemas.openxmlformats.org/officeDocument/2006/relationships/slide" Target="/ppt/slides/slide2.xml" Id="R28aaf402cd4b41ef" /><Relationship Type="http://schemas.openxmlformats.org/officeDocument/2006/relationships/slide" Target="/ppt/slides/slide3.xml" Id="Rc4b768cdb0ff4183" /><Relationship Type="http://schemas.openxmlformats.org/officeDocument/2006/relationships/slide" Target="/ppt/slides/slide4.xml" Id="R780ac531285541af" /><Relationship Type="http://schemas.openxmlformats.org/officeDocument/2006/relationships/slide" Target="/ppt/slides/slide5.xml" Id="Rdca767b362784f36" /><Relationship Type="http://schemas.openxmlformats.org/officeDocument/2006/relationships/slide" Target="/ppt/slides/slide6.xml" Id="R740c359cfdc24201" /><Relationship Type="http://schemas.openxmlformats.org/officeDocument/2006/relationships/slide" Target="/ppt/slides/slide7.xml" Id="R6de24ba56b834d8d" /><Relationship Type="http://schemas.openxmlformats.org/officeDocument/2006/relationships/slide" Target="/ppt/slides/slide8.xml" Id="R62cd59835c384293" /><Relationship Type="http://schemas.openxmlformats.org/officeDocument/2006/relationships/slide" Target="/ppt/slides/slide9.xml" Id="R61d6dcafa3524c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17a8b14f0c84e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5dfb61eb1104b26" /><Relationship Type="http://schemas.openxmlformats.org/officeDocument/2006/relationships/notesMaster" Target="/ppt/notesMasters/notesMaster1.xml" Id="R61aa4d679d5c45c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786df82c7d4146" /><Relationship Type="http://schemas.openxmlformats.org/officeDocument/2006/relationships/notesMaster" Target="/ppt/notesMasters/notesMaster1.xml" Id="R2edbe1a48d3244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5268d24795498f" /><Relationship Type="http://schemas.openxmlformats.org/officeDocument/2006/relationships/notesMaster" Target="/ppt/notesMasters/notesMaster1.xml" Id="Rf3f1a967b35f42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65382f125a468b" /><Relationship Type="http://schemas.openxmlformats.org/officeDocument/2006/relationships/notesMaster" Target="/ppt/notesMasters/notesMaster1.xml" Id="R46bd52ccc2f8489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55c416f9c541b5" /><Relationship Type="http://schemas.openxmlformats.org/officeDocument/2006/relationships/notesMaster" Target="/ppt/notesMasters/notesMaster1.xml" Id="R2be38263b0f244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04662b312d44ebf" /><Relationship Type="http://schemas.openxmlformats.org/officeDocument/2006/relationships/notesMaster" Target="/ppt/notesMasters/notesMaster1.xml" Id="Ra3992779c63f46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f770bb66fe424e" /><Relationship Type="http://schemas.openxmlformats.org/officeDocument/2006/relationships/notesMaster" Target="/ppt/notesMasters/notesMaster1.xml" Id="R70d204ed3fca49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025d9cc6ff44b0" /><Relationship Type="http://schemas.openxmlformats.org/officeDocument/2006/relationships/notesMaster" Target="/ppt/notesMasters/notesMaster1.xml" Id="R3b38b5d2edaa4d0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d915068797e492f" /><Relationship Type="http://schemas.openxmlformats.org/officeDocument/2006/relationships/notesMaster" Target="/ppt/notesMasters/notesMaster1.xml" Id="R950ccc2605da48b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gap between prose review and executable regression evidence.</a:t>
            </a:r>
          </a:p>
          <a:p xmlns:a="http://schemas.openxmlformats.org/drawingml/2006/main">
            <a:r>
              <a:t>State that this is a prototype and that validation remains pending.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docs/superpowers/plans/2026-09-04-policyfuzz-implementation.md — Task 24, slide 1</a:t>
            </a:r>
          </a:p>
          <a:p xmlns:a="http://schemas.openxmlformats.org/drawingml/2006/main">
            <a:r>
              <a:t>- docs/superpowers/specs/2026-09-04-policyfuzz-design.md — §§17 and 19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user and burden as a product hypothesis, not market validation.</a:t>
            </a:r>
          </a:p>
          <a:p xmlns:a="http://schemas.openxmlformats.org/drawingml/2006/main">
            <a:r>
              <a:t>Use Finance and People Ops as the initial T&amp;E owners identified in the approved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docs/superpowers/plans/2026-09-04-policyfuzz-implementation.md — Task 24, slide 2</a:t>
            </a:r>
          </a:p>
          <a:p xmlns:a="http://schemas.openxmlformats.org/drawingml/2006/main">
            <a:r>
              <a:t>- docs/superpowers/specs/2026-09-04-policyfuzz-design.md — §§1, 12.3 and 17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 through the approved user journey.</a:t>
            </a:r>
          </a:p>
          <a:p xmlns:a="http://schemas.openxmlformats.org/drawingml/2006/main">
            <a:r>
              <a:t>A mode label must distinguish live behavior from cached recorded artifacts.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docs/superpowers/plans/2026-09-04-policyfuzz-implementation.md — Task 24, slides 3 and video plan</a:t>
            </a:r>
          </a:p>
          <a:p xmlns:a="http://schemas.openxmlformats.org/drawingml/2006/main">
            <a:r>
              <a:t>- docs/superpowers/specs/2026-09-04-policyfuzz-design.md — §§9, 12.2 and 17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agentic behavior is bounded by a single targeted cycle.</a:t>
            </a:r>
          </a:p>
          <a:p xmlns:a="http://schemas.openxmlformats.org/drawingml/2006/main">
            <a:r>
              <a:t>If coverage remains insufficient, the workflow stops rather than expanding without limit.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docs/superpowers/plans/2026-09-04-policyfuzz-implementation.md — Tasks 9 and 24</a:t>
            </a:r>
          </a:p>
          <a:p xmlns:a="http://schemas.openxmlformats.org/drawingml/2006/main">
            <a:r>
              <a:t>- docs/superpowers/specs/2026-09-04-policyfuzz-design.md — §12.2 frozen-suite procedure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diagram to make the model/Python responsibility split explicit.</a:t>
            </a:r>
          </a:p>
          <a:p xmlns:a="http://schemas.openxmlformats.org/drawingml/2006/main">
            <a:r>
              <a:t>This is the approved target modular-monolith architecture; final integration remains pending.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docs/superpowers/specs/2026-09-04-policyfuzz-design.md — §§3, 7, 9 and 11</a:t>
            </a:r>
          </a:p>
          <a:p xmlns:a="http://schemas.openxmlformats.org/drawingml/2006/main">
            <a:r>
              <a:t>- docs/superpowers/plans/2026-09-04-policyfuzz-implementation.md — Task 24, slide 5</a:t>
            </a:r>
          </a:p>
          <a:p xmlns:a="http://schemas.openxmlformats.org/drawingml/2006/main">
            <a:r>
              <a:t>- team/person-1-integration/HANDOFF.md — current integration limitations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these as synthetic planned development cases, not observed findings.</a:t>
            </a:r>
          </a:p>
          <a:p xmlns:a="http://schemas.openxmlformats.org/drawingml/2006/main">
            <a:r>
              <a:t>The amount facts instantiate the approved defect definitions; final witnesses, traces, and policy-span citations remain capture dependencies.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docs/superpowers/specs/2026-09-04-policyfuzz-design.md — §12.1 development demonstration cases</a:t>
            </a:r>
          </a:p>
          <a:p xmlns:a="http://schemas.openxmlformats.org/drawingml/2006/main">
            <a:r>
              <a:t>- docs/superpowers/plans/2026-09-04-policyfuzz-implementation.md — Task 21 fixture contract and Task 24, slide 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present placeholder values as measurements.</a:t>
            </a:r>
          </a:p>
          <a:p xmlns:a="http://schemas.openxmlformats.org/drawingml/2006/main">
            <a:r>
              <a:t>Explain the evidence chain and disclose the blind candidate's late seal, delegated-agent authorship, pending human review, and scoring ineligibility.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docs/superpowers/plans/2026-09-04-policyfuzz-implementation.md — Gate B and Task 24, steps 1–2</a:t>
            </a:r>
          </a:p>
          <a:p xmlns:a="http://schemas.openxmlformats.org/drawingml/2006/main">
            <a:r>
              <a:t>- docs/superpowers/specs/2026-09-04-policyfuzz-design.md — §§12.2–12.4 and 18</a:t>
            </a:r>
          </a:p>
          <a:p xmlns:a="http://schemas.openxmlformats.org/drawingml/2006/main">
            <a:r>
              <a:t>- submission/evidence/benchmark-v2/README.md</a:t>
            </a:r>
          </a:p>
          <a:p xmlns:a="http://schemas.openxmlformats.org/drawingml/2006/main">
            <a:r>
              <a:t>- submission/evidence/benchmark-v2/provenance.json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impact language explicitly hypothetical until tagged-build measurements exist.</a:t>
            </a:r>
          </a:p>
          <a:p xmlns:a="http://schemas.openxmlformats.org/drawingml/2006/main">
            <a:r>
              <a:t>The approved business proxies are operational measurements, not ROI or user-validation claims.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docs/superpowers/specs/2026-09-04-policyfuzz-design.md — §12.3 operational business proxies</a:t>
            </a:r>
          </a:p>
          <a:p xmlns:a="http://schemas.openxmlformats.org/drawingml/2006/main">
            <a:r>
              <a:t>- docs/superpowers/plans/2026-09-04-policyfuzz-implementation.md — Task 24, slides 7–8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narrow intended proof, then state the present limitations plainly.</a:t>
            </a:r>
          </a:p>
          <a:p xmlns:a="http://schemas.openxmlformats.org/drawingml/2006/main">
            <a:r>
              <a:t>Team roles are ownership areas only; no individual names are invented.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docs/superpowers/specs/2026-09-04-policyfuzz-design.md — §§11, 18 and 19</a:t>
            </a:r>
          </a:p>
          <a:p xmlns:a="http://schemas.openxmlformats.org/drawingml/2006/main">
            <a:r>
              <a:t>- docs/superpowers/plans/2026-09-04-policyfuzz-implementation.md — Task 24, slide 9</a:t>
            </a:r>
          </a:p>
          <a:p xmlns:a="http://schemas.openxmlformats.org/drawingml/2006/main">
            <a:r>
              <a:t>- AGENTS.md and team/person-5-product/AGENTS.md</a:t>
            </a:r>
          </a:p>
          <a:p xmlns:a="http://schemas.openxmlformats.org/drawingml/2006/main">
            <a:r>
              <a:t>- git remote origin — https://github.com/Luigi-Simon/policyfuzz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ae9dff4b1b49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1949914d89438c" /><Relationship Type="http://schemas.openxmlformats.org/officeDocument/2006/relationships/slideLayout" Target="/ppt/slideLayouts/slideLayout1.xml" Id="Rba581d740bb04b4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581d740bb04b4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eef003fdcc454e" /><Relationship Type="http://schemas.openxmlformats.org/officeDocument/2006/relationships/notesSlide" Target="/ppt/notesSlides/notesSlide1.xml" Id="R26706ad7853941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64cbd9e2144e9" /><Relationship Type="http://schemas.openxmlformats.org/officeDocument/2006/relationships/notesSlide" Target="/ppt/notesSlides/notesSlide2.xml" Id="R1e3c76497ea047c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6f7d42fba4246" /><Relationship Type="http://schemas.openxmlformats.org/officeDocument/2006/relationships/notesSlide" Target="/ppt/notesSlides/notesSlide3.xml" Id="R49d1fab845ac497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352eb812bd415e" /><Relationship Type="http://schemas.openxmlformats.org/officeDocument/2006/relationships/notesSlide" Target="/ppt/notesSlides/notesSlide4.xml" Id="R3a8d55cf2965405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30dd32544473f" /><Relationship Type="http://schemas.openxmlformats.org/officeDocument/2006/relationships/notesSlide" Target="/ppt/notesSlides/notesSlide5.xml" Id="R87819a3e3a4545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ce7fedd054828" /><Relationship Type="http://schemas.openxmlformats.org/officeDocument/2006/relationships/notesSlide" Target="/ppt/notesSlides/notesSlide6.xml" Id="R3cb09f9525aa4b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9cbe447747493c" /><Relationship Type="http://schemas.openxmlformats.org/officeDocument/2006/relationships/notesSlide" Target="/ppt/notesSlides/notesSlide7.xml" Id="Rdcf112618cdd416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3e917e03214567" /><Relationship Type="http://schemas.openxmlformats.org/officeDocument/2006/relationships/notesSlide" Target="/ppt/notesSlides/notesSlide8.xml" Id="Rd2788c685ce74c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ed532439254278" /><Relationship Type="http://schemas.openxmlformats.org/officeDocument/2006/relationships/notesSlide" Target="/ppt/notesSlides/notesSlide9.xml" Id="Rbbbc01a6a94547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B0869-5F03-4A4C-AF90-FC3EEEF2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79253-5BAD-4445-ABCB-AAF14E0D2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123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0D948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10D5C8-620A-4E74-BE1D-F3D40C21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7DE2D7"/>
                </a:solidFill>
              </a:defRPr>
            </a:pPr>
            <a:r>
              <a:rPr sz="1200" b="1" i="0">
                <a:solidFill>
                  <a:srgbClr val="7DE2D7"/>
                </a:solidFill>
              </a:rPr>
              <a:t>POLICYFUZZ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C1C58D-C78B-4D20-A1A6-B2C06B3C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8763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 i="0">
                <a:solidFill>
                  <a:srgbClr val="FFFFFF"/>
                </a:solidFill>
              </a:defRPr>
            </a:pPr>
            <a:r>
              <a:rPr sz="4350" b="1" i="0">
                <a:solidFill>
                  <a:srgbClr val="FFFFFF"/>
                </a:solidFill>
              </a:rPr>
              <a:t>Policies have prose reviews,</a:t>
            </a:r>
          </a:p>
          <a:p xmlns:a="http://schemas.openxmlformats.org/drawingml/2006/main">
            <a:pPr algn="l">
              <a:defRPr sz="4350" b="1" i="0">
                <a:solidFill>
                  <a:srgbClr val="FFFFFF"/>
                </a:solidFill>
              </a:defRPr>
            </a:pPr>
            <a:r>
              <a:rPr sz="4350" b="1" i="0">
                <a:solidFill>
                  <a:srgbClr val="FFFFFF"/>
                </a:solidFill>
              </a:rPr>
              <a:t>but no unit tests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335A6B-313B-480C-9BAF-68D64616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62350"/>
            <a:ext cx="7810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D9E7EE"/>
                </a:solidFill>
              </a:defRPr>
            </a:pPr>
            <a:r>
              <a:rPr sz="1950" b="0" i="0">
                <a:solidFill>
                  <a:srgbClr val="D9E7EE"/>
                </a:solidFill>
              </a:rPr>
              <a:t>A prototype for turning session-confirmed travel &amp; expense intent into traceable scenarios and deterministic checks.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D98B0-D068-458F-83DB-5861350B1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19700"/>
            <a:ext cx="3905250" cy="323850"/>
          </a:xfrm>
          <a:prstGeom xmlns:a="http://schemas.openxmlformats.org/drawingml/2006/main" prst="roundRect">
            <a:avLst>
              <a:gd name="adj" fmla="val 41176"/>
            </a:avLst>
          </a:prstGeom>
          <a:solidFill xmlns:a="http://schemas.openxmlformats.org/drawingml/2006/main">
            <a:srgbClr val="174A5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D7F7F2"/>
                </a:solidFill>
              </a:defRPr>
            </a:pPr>
            <a:r>
              <a:rPr sz="975" b="1" i="0">
                <a:solidFill>
                  <a:srgbClr val="D7F7F2"/>
                </a:solidFill>
              </a:rPr>
              <a:t>SYNTHETIC PROTOTYPE · VALIDATION PENDING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D95EAA-283B-431D-A29D-5B4CC47F7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953000"/>
            <a:ext cx="198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7DE2D7"/>
                </a:solidFill>
              </a:defRPr>
            </a:pPr>
            <a:r>
              <a:rPr sz="1050" b="1" i="0">
                <a:solidFill>
                  <a:srgbClr val="7DE2D7"/>
                </a:solidFill>
              </a:rPr>
              <a:t>Narrow claim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8C7CBE-D0D5-4CCF-905E-F3B7D7823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276850"/>
            <a:ext cx="3009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Make ambiguity</a:t>
            </a:r>
          </a:p>
          <a:p xmlns:a="http://schemas.openxmlformats.org/drawingml/2006/main">
            <a:pPr algn="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executable — then test it.</a:t>
            </a:r>
          </a:p>
        </p:txBody>
      </p:sp>
    </p:spTree>
    <p:extLst>
      <p:ext uri="{BB962C8B-B14F-4D97-AF65-F5344CB8AC3E}">
        <p14:creationId xmlns:p14="http://schemas.microsoft.com/office/powerpoint/2010/main" val="13823840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3E1253-C919-42B4-B2B8-F10D63E4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D5A770-6EF7-415A-9C12-6F1BDC6F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USER HYPOTHESIS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C6FD85-4161-4D05-8DAD-FCFC195F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619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627D8C"/>
                </a:solidFill>
              </a:defRPr>
            </a:pPr>
            <a:r>
              <a:rPr sz="1125" b="1" i="0">
                <a:solidFill>
                  <a:srgbClr val="627D8C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736764-4106-4881-8FD3-ACE7993D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3C118C-D7BA-45CB-8B28-6D8F8B8F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D8C"/>
                </a:solidFill>
              </a:defRPr>
            </a:pPr>
            <a:r>
              <a:rPr sz="825" b="1" i="0">
                <a:solidFill>
                  <a:srgbClr val="627D8C"/>
                </a:solidFill>
              </a:rPr>
              <a:t>POLICYFUZZ · REVIEWABLE DRAFT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E187BC-41CD-42CA-AE7B-AAEF76A97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One owner carries every edge case in their head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527DB5-08E8-4C91-92F6-AAC9DD6B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3381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F766E"/>
                </a:solidFill>
              </a:defRPr>
            </a:pPr>
            <a:r>
              <a:rPr sz="1275" b="1" i="0">
                <a:solidFill>
                  <a:srgbClr val="0F766E"/>
                </a:solidFill>
              </a:rPr>
              <a:t>FINANCE / PEOPLE OPS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E51D87-7F34-4AC3-B3DE-A206D9A1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3381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75" b="1" i="0">
                <a:solidFill>
                  <a:srgbClr val="102A43"/>
                </a:solidFill>
              </a:defRPr>
            </a:pPr>
            <a:r>
              <a:rPr sz="2775" b="1" i="0">
                <a:solidFill>
                  <a:srgbClr val="102A43"/>
                </a:solidFill>
              </a:rPr>
              <a:t>Policy owner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EC0855-26C5-4EE8-9409-746760D4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27D8C"/>
                </a:solidFill>
              </a:defRPr>
            </a:pPr>
            <a:r>
              <a:rPr sz="1575" b="0" i="0">
                <a:solidFill>
                  <a:srgbClr val="627D8C"/>
                </a:solidFill>
              </a:rPr>
              <a:t>Maintains rules, fields exceptions, and explains decisions across many combinations of amount, category, timing, destination, and prior spend.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8DCB6-E000-4E91-97FB-8977DD34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3028950" cy="323850"/>
          </a:xfrm>
          <a:prstGeom xmlns:a="http://schemas.openxmlformats.org/drawingml/2006/main" prst="roundRect">
            <a:avLst>
              <a:gd name="adj" fmla="val 41176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7791F"/>
                </a:solidFill>
              </a:defRPr>
            </a:pPr>
            <a:r>
              <a:rPr sz="975" b="1" i="0">
                <a:solidFill>
                  <a:srgbClr val="B7791F"/>
                </a:solidFill>
              </a:rPr>
              <a:t>HYPOTHESIS — NOT USER 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AEC533-B5C4-4BE7-A1D6-8EBBFA92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619250"/>
            <a:ext cx="0" cy="396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7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FB479-A620-47F3-AED3-AB3FF0D0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69545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7834EB-AE2E-47C6-8DF3-CFA32BCC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859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Thresholds hide boundary gaps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F7C963-0229-4CD0-B29D-C0E299477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383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Manual review can miss equality cases and adjacent ranges.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4B838C-0B57-457D-9BB0-87FC36D0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02895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EC445C-7A60-45C5-B582-8577C50D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194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Exceptions collide across clauses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7C5689-CDD2-40F3-A405-7384D859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718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Priority and overrides may exist only in reviewers’ memory.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EE5DD9-58F5-4AC9-8B2D-20B4A081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36245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A38B22-B471-4654-B3F6-F33E3FBB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529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Change review lacks a fixed regression set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6DEFFF-EEAF-42FF-A09A-E0FF98C5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053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A wording fix can shift a different outcome without a visible trace.</a:t>
            </a:r>
          </a:p>
        </p:txBody>
      </p:sp>
    </p:spTree>
    <p:extLst>
      <p:ext uri="{BB962C8B-B14F-4D97-AF65-F5344CB8AC3E}">
        <p14:creationId xmlns:p14="http://schemas.microsoft.com/office/powerpoint/2010/main" val="9473311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2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812165-C0BB-414B-8D9E-DE0457A0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F178FC-A8BC-44D0-95C8-833683BF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PRODUCT JOURNEY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524667-D00E-4E22-BAFB-FE86DEA8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619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627D8C"/>
                </a:solidFill>
              </a:defRPr>
            </a:pPr>
            <a:r>
              <a:rPr sz="1125" b="1" i="0">
                <a:solidFill>
                  <a:srgbClr val="627D8C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DA2DD3-59FD-4310-89D3-BB7C0C7F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372E4B-5127-471D-A133-D4ED4180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D8C"/>
                </a:solidFill>
              </a:defRPr>
            </a:pPr>
            <a:r>
              <a:rPr sz="825" b="1" i="0">
                <a:solidFill>
                  <a:srgbClr val="627D8C"/>
                </a:solidFill>
              </a:rPr>
              <a:t>POLICYFUZZ · REVIEWABLE DRAFT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32B028-5B1A-45F0-B887-FAAF32B8F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The journey ends in a retest, not a summary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75D596-9AA9-4203-A69E-8F8FAA81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05125"/>
            <a:ext cx="552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525285-C946-44C5-95F2-E1C67F40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05125"/>
            <a:ext cx="552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F479FB-3281-40A6-A693-C6C60B73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05125"/>
            <a:ext cx="552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15C89D-F45F-479F-A325-4B8D1AFE7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905125"/>
            <a:ext cx="552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D2CC48-D44E-4B30-B3E3-4D11D9C4E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787DC9-27BA-4F46-B3D3-457B9CBD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7D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B7C63B-EBEB-414D-97DA-21479FC7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UPLOAD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C0A035-C492-4812-BA5E-0C5A82A5D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90900"/>
            <a:ext cx="167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Synthetic or non-confidential text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8A1D50-C48C-4844-AEC1-3601A9B7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3360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E21011-3CD7-4938-A0C9-6FF1A070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717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7D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4DD27E-0B05-47C7-B813-822EEB5A2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8003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CONFIRM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42F92F-8D26-4B56-925F-F9BD0BF3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90900"/>
            <a:ext cx="167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Cited rules and session intent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43F9A1-0270-47AC-8DAE-5F99E38A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13360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94660E-FF13-4B62-950F-0FEDBF7B4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717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7D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9BFB62-9D84-4B8A-B9B7-EE9C937B3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003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FUZZ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F17690-FCE8-4F42-B7CE-65B1D092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90900"/>
            <a:ext cx="167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Boundaries and combinations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89F399F-3A0D-47DA-8EF5-12F9451A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3360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2112F9-6FE7-4916-B821-96236681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717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7D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C9691B-0EDF-4525-BA50-1903E88D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003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REVISE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D3B0BD-F01B-4260-BA25-510A4015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167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Structured diff for 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04C85B-A85B-473A-B498-83C0C6BC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13360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9C8901-7789-4C1C-9262-428B910D6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5717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0D948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23EAEC-1F34-4E75-BAB6-668A5135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800350"/>
            <a:ext cx="1657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RETEST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FEEF2EC-2FF4-4438-BEC2-4B3B2B00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90900"/>
            <a:ext cx="167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The identical frozen suite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C37244-E219-4D04-B1F4-D5D07DAE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04203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7D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B53CA4-4A90-46AD-9159-1238B454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F766E"/>
                </a:solidFill>
              </a:defRPr>
            </a:pPr>
            <a:r>
              <a:rPr sz="1500" b="1" i="0">
                <a:solidFill>
                  <a:srgbClr val="0F766E"/>
                </a:solidFill>
              </a:rPr>
              <a:t>Why it differs from summarization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CCC311-65D3-4B24-A40A-459A46BF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857750"/>
            <a:ext cx="6572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Every finding should resolve to visible facts, a deterministic trace, and an exact source citation — then survive the same-suite comparison.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60B05D-2622-4E65-A8DA-D31A62FAE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772150"/>
            <a:ext cx="3276600" cy="323850"/>
          </a:xfrm>
          <a:prstGeom xmlns:a="http://schemas.openxmlformats.org/drawingml/2006/main" prst="roundRect">
            <a:avLst>
              <a:gd name="adj" fmla="val 41176"/>
            </a:avLst>
          </a:prstGeom>
          <a:solidFill xmlns:a="http://schemas.openxmlformats.org/drawingml/2006/main">
            <a:srgbClr val="DDF4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0F766E"/>
                </a:solidFill>
              </a:defRPr>
            </a:pPr>
            <a:r>
              <a:rPr sz="975" b="1" i="0">
                <a:solidFill>
                  <a:srgbClr val="0F766E"/>
                </a:solidFill>
              </a:rPr>
              <a:t>LIVE / CACHED MODE STAYS VISIBLE</a:t>
            </a:r>
          </a:p>
        </p:txBody>
      </p:sp>
    </p:spTree>
    <p:extLst>
      <p:ext uri="{BB962C8B-B14F-4D97-AF65-F5344CB8AC3E}">
        <p14:creationId xmlns:p14="http://schemas.microsoft.com/office/powerpoint/2010/main" val="8240078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0FF9AD-34A7-4D08-A45F-A5BE9608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F98992-3DF8-459B-B482-D2B0B0A2A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BOUNDED AGENT LOOP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CBE73D-0AA5-48CF-9092-6BCC52EA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619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627D8C"/>
                </a:solidFill>
              </a:defRPr>
            </a:pPr>
            <a:r>
              <a:rPr sz="1125" b="1" i="0">
                <a:solidFill>
                  <a:srgbClr val="627D8C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E45A49-598C-40B6-B7B5-7C0AFEB5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57DF46-8DB0-4F38-B905-577DA162A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D8C"/>
                </a:solidFill>
              </a:defRPr>
            </a:pPr>
            <a:r>
              <a:rPr sz="825" b="1" i="0">
                <a:solidFill>
                  <a:srgbClr val="627D8C"/>
                </a:solidFill>
              </a:rPr>
              <a:t>POLICYFUZZ · REVIEWABLE DRAFT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AD6EC5-C7B0-4EA9-A14E-FDB084CD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One targeted cycle closes coverage — or stops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66469B-A5F0-4B64-A178-A18CE317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BD7D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310F1D-6ED4-43F1-93D0-52FD0275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510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8A7C09-8621-4124-8474-A8B83E9F9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6385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0F766E"/>
                </a:solidFill>
              </a:defRPr>
            </a:pPr>
            <a:r>
              <a:rPr sz="1425" b="1" i="0">
                <a:solidFill>
                  <a:srgbClr val="0F766E"/>
                </a:solidFill>
              </a:rPr>
              <a:t>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C1D3BE-D69E-4F08-BBD3-97644FC5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" y="40767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27D8C"/>
                </a:solidFill>
              </a:defRPr>
            </a:pPr>
            <a:r>
              <a:rPr sz="1200" b="0" i="0">
                <a:solidFill>
                  <a:srgbClr val="627D8C"/>
                </a:solidFill>
              </a:rPr>
              <a:t>Required targets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B311A-84A5-441A-842D-7B78F153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0510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3FF41A-1D57-4168-8908-3A341BFB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385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0F766E"/>
                </a:solidFill>
              </a:defRPr>
            </a:pPr>
            <a:r>
              <a:rPr sz="1425" b="1" i="0">
                <a:solidFill>
                  <a:srgbClr val="0F766E"/>
                </a:solidFill>
              </a:rPr>
              <a:t>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85BE7C-C1AD-46F2-9BE4-0B55B8A1E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0767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27D8C"/>
                </a:solidFill>
              </a:defRPr>
            </a:pPr>
            <a:r>
              <a:rPr sz="1200" b="0" i="0">
                <a:solidFill>
                  <a:srgbClr val="627D8C"/>
                </a:solidFill>
              </a:rPr>
              <a:t>Candidate scenarios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904B8E-9150-426E-9437-C4FC8B60B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70510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122BF7-3276-460E-AD27-93FD9918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6385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0F766E"/>
                </a:solidFill>
              </a:defRPr>
            </a:pPr>
            <a:r>
              <a:rPr sz="1425" b="1" i="0">
                <a:solidFill>
                  <a:srgbClr val="0F766E"/>
                </a:solidFill>
              </a:rPr>
              <a:t>OBSERVE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BA6DC3-EAAD-426F-9222-DA413DBAB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0767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27D8C"/>
                </a:solidFill>
              </a:defRPr>
            </a:pPr>
            <a:r>
              <a:rPr sz="1200" b="0" i="0">
                <a:solidFill>
                  <a:srgbClr val="627D8C"/>
                </a:solidFill>
              </a:rPr>
              <a:t>Coverage gaps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AD27AB-D92D-4895-B151-609AB241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0510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8ADD6A-4061-4766-8ADC-AE5CE6DC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385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0F766E"/>
                </a:solidFill>
              </a:defRPr>
            </a:pPr>
            <a:r>
              <a:rPr sz="1425" b="1" i="0">
                <a:solidFill>
                  <a:srgbClr val="0F766E"/>
                </a:solidFill>
              </a:rPr>
              <a:t>ADAPT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3DF7A7-4D85-422E-A7C4-DC5A2379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0767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27D8C"/>
                </a:solidFill>
              </a:defRPr>
            </a:pPr>
            <a:r>
              <a:rPr sz="1200" b="0" i="0">
                <a:solidFill>
                  <a:srgbClr val="627D8C"/>
                </a:solidFill>
              </a:rPr>
              <a:t>One targeted batch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A02D96-B259-47FD-AC43-88D61E61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705100"/>
            <a:ext cx="609600" cy="609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8834DD-7B8D-4DE6-9F0A-4A4C54705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6385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RETEST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2ED0AF-6EC2-4127-9F27-AA457F426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0767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627D8C"/>
                </a:solidFill>
              </a:defRPr>
            </a:pPr>
            <a:r>
              <a:rPr sz="1200" b="0" i="0">
                <a:solidFill>
                  <a:srgbClr val="627D8C"/>
                </a:solidFill>
              </a:rPr>
              <a:t>Freeze + execute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D60711-1AD8-491C-A180-07D7A19B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010150"/>
            <a:ext cx="39433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520C1C-4488-419B-A3FE-AF877701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5191125"/>
            <a:ext cx="70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7791F"/>
                </a:solidFill>
              </a:defRPr>
            </a:pPr>
            <a:r>
              <a:rPr sz="1125" b="1" i="0">
                <a:solidFill>
                  <a:srgbClr val="B7791F"/>
                </a:solidFill>
              </a:rPr>
              <a:t>Bound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BAB13F-B84B-465C-9BF1-19A842934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124450"/>
            <a:ext cx="2705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At most one targeted generation cycle before suite freeze.</a:t>
            </a:r>
          </a:p>
        </p:txBody>
      </p:sp>
    </p:spTree>
    <p:extLst>
      <p:ext uri="{BB962C8B-B14F-4D97-AF65-F5344CB8AC3E}">
        <p14:creationId xmlns:p14="http://schemas.microsoft.com/office/powerpoint/2010/main" val="4958554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2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89E6C4-B500-4CB5-9936-411EC19E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1A7208-8DE7-49E4-8847-E800803A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TARGET ARCHITECTURE · INTEGRATION PENDING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645468-90FA-4760-9D9B-847BD37D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619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627D8C"/>
                </a:solidFill>
              </a:defRPr>
            </a:pPr>
            <a:r>
              <a:rPr sz="1125" b="1" i="0">
                <a:solidFill>
                  <a:srgbClr val="627D8C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5193D7-D0D5-4B73-963F-92367DD1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B4C2E9-4158-4C75-A3CA-DD2FB89C6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D8C"/>
                </a:solidFill>
              </a:defRPr>
            </a:pPr>
            <a:r>
              <a:rPr sz="825" b="1" i="0">
                <a:solidFill>
                  <a:srgbClr val="627D8C"/>
                </a:solidFill>
              </a:rPr>
              <a:t>POLICYFUZZ · REVIEWABLE DRAFT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50A096-DAB4-4E24-A627-B60325969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Models propose; deterministic Python decides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0154D8-7052-474A-99D8-4B082A38A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71800"/>
            <a:ext cx="8572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717EB4-ACE4-479F-9438-2BBECD42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971800"/>
            <a:ext cx="8572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BD7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10BB96-B9C5-4BAA-B925-973D5500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90700"/>
            <a:ext cx="0" cy="3771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D9488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028691-C84D-4AA2-AD19-99950739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619750"/>
            <a:ext cx="99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TRUST</a:t>
            </a:r>
          </a:p>
          <a:p xmlns:a="http://schemas.openxmlformats.org/drawingml/2006/main">
            <a:pPr algn="ctr">
              <a:defRPr sz="900" b="1" i="0">
                <a:solidFill>
                  <a:srgbClr val="0F766E"/>
                </a:solidFill>
              </a:defRPr>
            </a:pPr>
            <a:r>
              <a:rPr sz="900" b="1" i="0">
                <a:solidFill>
                  <a:srgbClr val="0F766E"/>
                </a:solidFill>
              </a:rPr>
              <a:t>BOUNDARY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3F3600-71D3-4ED4-99C5-5688A3BB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3333750" cy="3219450"/>
          </a:xfrm>
          <a:prstGeom xmlns:a="http://schemas.openxmlformats.org/drawingml/2006/main" prst="roundRect">
            <a:avLst>
              <a:gd name="adj" fmla="val 47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7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C634E7-52E2-4B3F-8034-15DE243A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2838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02A43"/>
                </a:solidFill>
              </a:defRPr>
            </a:pPr>
            <a:r>
              <a:rPr sz="2025" b="1" i="0">
                <a:solidFill>
                  <a:srgbClr val="102A43"/>
                </a:solidFill>
              </a:rPr>
              <a:t>LLM-backed stages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0C5514-7C86-46C8-8070-2932E790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466850" cy="323850"/>
          </a:xfrm>
          <a:prstGeom xmlns:a="http://schemas.openxmlformats.org/drawingml/2006/main" prst="roundRect">
            <a:avLst>
              <a:gd name="adj" fmla="val 41176"/>
            </a:avLst>
          </a:prstGeom>
          <a:solidFill xmlns:a="http://schemas.openxmlformats.org/drawingml/2006/main">
            <a:srgbClr val="DDF4F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0F766E"/>
                </a:solidFill>
              </a:defRPr>
            </a:pPr>
            <a:r>
              <a:rPr sz="975" b="1" i="0">
                <a:solidFill>
                  <a:srgbClr val="0F766E"/>
                </a:solidFill>
              </a:rPr>
              <a:t>PROPOSAL ONLY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C9BBB7-0B99-4BAB-8D09-38100C24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71850"/>
            <a:ext cx="27241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27D8C"/>
                </a:solidFill>
              </a:defRPr>
            </a:pPr>
            <a:r>
              <a:rPr sz="1500" b="0" i="0">
                <a:solidFill>
                  <a:srgbClr val="627D8C"/>
                </a:solidFill>
              </a:rPr>
              <a:t>Interpret clauses</a:t>
            </a:r>
          </a:p>
          <a:p xmlns:a="http://schemas.openxmlformats.org/drawingml/2006/main">
            <a:pPr algn="l">
              <a:defRPr sz="1500" b="0" i="0">
                <a:solidFill>
                  <a:srgbClr val="627D8C"/>
                </a:solidFill>
              </a:defRPr>
            </a:pPr>
            <a:r>
              <a:rPr sz="1500" b="0" i="0">
                <a:solidFill>
                  <a:srgbClr val="627D8C"/>
                </a:solidFill>
              </a:rPr>
              <a:t>Suggest invariants</a:t>
            </a:r>
          </a:p>
          <a:p xmlns:a="http://schemas.openxmlformats.org/drawingml/2006/main">
            <a:pPr algn="l">
              <a:defRPr sz="1500" b="0" i="0">
                <a:solidFill>
                  <a:srgbClr val="627D8C"/>
                </a:solidFill>
              </a:defRPr>
            </a:pPr>
            <a:r>
              <a:rPr sz="1500" b="0" i="0">
                <a:solidFill>
                  <a:srgbClr val="627D8C"/>
                </a:solidFill>
              </a:rPr>
              <a:t>Explore scenario facts</a:t>
            </a:r>
          </a:p>
          <a:p xmlns:a="http://schemas.openxmlformats.org/drawingml/2006/main">
            <a:pPr algn="l">
              <a:defRPr sz="1500" b="0" i="0">
                <a:solidFill>
                  <a:srgbClr val="627D8C"/>
                </a:solidFill>
              </a:defRPr>
            </a:pPr>
            <a:r>
              <a:rPr sz="1500" b="0" i="0">
                <a:solidFill>
                  <a:srgbClr val="627D8C"/>
                </a:solidFill>
              </a:rPr>
              <a:t>Propose a minimal revision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33EFF3-4AEA-4212-8530-0561B463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362200"/>
            <a:ext cx="26670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D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824204-CAC5-4ADF-93D9-3BD716CA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647950"/>
            <a:ext cx="2171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0F766E"/>
                </a:solidFill>
              </a:defRPr>
            </a:pPr>
            <a:r>
              <a:rPr sz="1875" b="1" i="0">
                <a:solidFill>
                  <a:srgbClr val="0F766E"/>
                </a:solidFill>
              </a:rPr>
              <a:t>Public workflow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AC5467-C870-4762-823F-1FAE3400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333750"/>
            <a:ext cx="19812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RunView</a:t>
            </a:r>
          </a:p>
          <a:p xmlns:a="http://schemas.openxmlformats.org/drawingml/2006/main">
            <a:pPr algn="ctr"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commands</a:t>
            </a:r>
          </a:p>
          <a:p xmlns:a="http://schemas.openxmlformats.org/drawingml/2006/main">
            <a:pPr algn="ctr"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artifacts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38051D-6026-418F-B35E-1D9DE7D3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809750"/>
            <a:ext cx="3276600" cy="360045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C2189D-E821-4E26-99DD-B1DC8D41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14550"/>
            <a:ext cx="276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FFFFFF"/>
                </a:solidFill>
              </a:defRPr>
            </a:pPr>
            <a:r>
              <a:rPr sz="2025" b="1" i="0">
                <a:solidFill>
                  <a:srgbClr val="FFFFFF"/>
                </a:solidFill>
              </a:rPr>
              <a:t>Deterministic Python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F218B3-C31B-41F3-A24D-84E4254F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86050"/>
            <a:ext cx="1581150" cy="323850"/>
          </a:xfrm>
          <a:prstGeom xmlns:a="http://schemas.openxmlformats.org/drawingml/2006/main" prst="roundRect">
            <a:avLst>
              <a:gd name="adj" fmla="val 41176"/>
            </a:avLst>
          </a:prstGeom>
          <a:solidFill xmlns:a="http://schemas.openxmlformats.org/drawingml/2006/main">
            <a:srgbClr val="174A5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D7F7F2"/>
                </a:solidFill>
              </a:defRPr>
            </a:pPr>
            <a:r>
              <a:rPr sz="975" b="1" i="0">
                <a:solidFill>
                  <a:srgbClr val="D7F7F2"/>
                </a:solidFill>
              </a:rPr>
              <a:t>AUTHORITATIVE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289A0E-749B-49BB-9A2C-B9867648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76600"/>
            <a:ext cx="26860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D9E7EE"/>
                </a:solidFill>
              </a:defRPr>
            </a:pPr>
            <a:r>
              <a:rPr sz="1500" b="0" i="0">
                <a:solidFill>
                  <a:srgbClr val="D9E7EE"/>
                </a:solidFill>
              </a:rPr>
              <a:t>Validate schemas + citations</a:t>
            </a:r>
          </a:p>
          <a:p xmlns:a="http://schemas.openxmlformats.org/drawingml/2006/main">
            <a:pPr algn="l">
              <a:defRPr sz="1500" b="0" i="0">
                <a:solidFill>
                  <a:srgbClr val="D9E7EE"/>
                </a:solidFill>
              </a:defRPr>
            </a:pPr>
            <a:r>
              <a:rPr sz="1500" b="0" i="0">
                <a:solidFill>
                  <a:srgbClr val="D9E7EE"/>
                </a:solidFill>
              </a:rPr>
              <a:t>Resolve effects + traces</a:t>
            </a:r>
          </a:p>
          <a:p xmlns:a="http://schemas.openxmlformats.org/drawingml/2006/main">
            <a:pPr algn="l">
              <a:defRPr sz="1500" b="0" i="0">
                <a:solidFill>
                  <a:srgbClr val="D9E7EE"/>
                </a:solidFill>
              </a:defRPr>
            </a:pPr>
            <a:r>
              <a:rPr sz="1500" b="0" i="0">
                <a:solidFill>
                  <a:srgbClr val="D9E7EE"/>
                </a:solidFill>
              </a:rPr>
              <a:t>Freeze + hash the suite</a:t>
            </a:r>
          </a:p>
          <a:p xmlns:a="http://schemas.openxmlformats.org/drawingml/2006/main">
            <a:pPr algn="l">
              <a:defRPr sz="1500" b="0" i="0">
                <a:solidFill>
                  <a:srgbClr val="D9E7EE"/>
                </a:solidFill>
              </a:defRPr>
            </a:pPr>
            <a:r>
              <a:rPr sz="1500" b="0" i="0">
                <a:solidFill>
                  <a:srgbClr val="D9E7EE"/>
                </a:solidFill>
              </a:rPr>
              <a:t>Compute metrics</a:t>
            </a:r>
          </a:p>
          <a:p xmlns:a="http://schemas.openxmlformats.org/drawingml/2006/main">
            <a:pPr algn="l">
              <a:defRPr sz="1500" b="0" i="0">
                <a:solidFill>
                  <a:srgbClr val="D9E7EE"/>
                </a:solidFill>
              </a:defRPr>
            </a:pPr>
            <a:r>
              <a:rPr sz="1500" b="0" i="0">
                <a:solidFill>
                  <a:srgbClr val="D9E7EE"/>
                </a:solidFill>
              </a:rPr>
              <a:t>Gate patch acceptance</a:t>
            </a:r>
          </a:p>
        </p:txBody>
      </p:sp>
    </p:spTree>
    <p:extLst>
      <p:ext uri="{BB962C8B-B14F-4D97-AF65-F5344CB8AC3E}">
        <p14:creationId xmlns:p14="http://schemas.microsoft.com/office/powerpoint/2010/main" val="1126262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2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CD8576-C5AB-4390-B5D2-895164E3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7ABCFA-DA3F-478A-A5AB-2A92983E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PLANNED DEVELOPMENT CASES · SYNTHETIC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3BC4A8-7337-415D-8232-7588D6B7C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619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627D8C"/>
                </a:solidFill>
              </a:defRPr>
            </a:pPr>
            <a:r>
              <a:rPr sz="1125" b="1" i="0">
                <a:solidFill>
                  <a:srgbClr val="627D8C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E55A9E-F7D2-4CB8-B9F7-FE7A9BD77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1BB27F-979F-4839-B3D6-16C8F1EE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D8C"/>
                </a:solidFill>
              </a:defRPr>
            </a:pPr>
            <a:r>
              <a:rPr sz="825" b="1" i="0">
                <a:solidFill>
                  <a:srgbClr val="627D8C"/>
                </a:solidFill>
              </a:rPr>
              <a:t>POLICYFUZZ · REVIEWABLE DRAFT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2879FB-7BC1-4144-A14B-103115693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Three planned cases make ambiguity executable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F37AC8-E3D1-49BF-88D1-D65F0B74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81300"/>
            <a:ext cx="1042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99137-656B-427F-9B06-1415134B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F766E"/>
                </a:solidFill>
              </a:defRPr>
            </a:pPr>
            <a:r>
              <a:rPr sz="1275" b="1" i="0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27E2A4-D291-4AC6-8D09-28A50D3C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7145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THRESHOLD GAP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D1AAC6-3854-49AF-9A0E-947D2D62A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1717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SGD 50.00 receipt claim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EB73A6-23C2-4E6C-BE52-4AFD260C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71650"/>
            <a:ext cx="287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B74D4D"/>
                </a:solidFill>
              </a:defRPr>
            </a:pPr>
            <a:r>
              <a:rPr sz="1500" b="1" i="0">
                <a:solidFill>
                  <a:srgbClr val="B74D4D"/>
                </a:solidFill>
              </a:rPr>
              <a:t>below 50 ≠ above 50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052C31-7502-48CA-B86F-917B281F6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2885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7D8C"/>
                </a:solidFill>
              </a:defRPr>
            </a:pPr>
            <a:r>
              <a:rPr sz="1200" b="0" i="0">
                <a:solidFill>
                  <a:srgbClr val="627D8C"/>
                </a:solidFill>
              </a:rPr>
              <a:t>Equality has no matching rule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2B664E-0F05-4855-A623-B25403F9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81200"/>
            <a:ext cx="2495550" cy="323850"/>
          </a:xfrm>
          <a:prstGeom xmlns:a="http://schemas.openxmlformats.org/drawingml/2006/main" prst="roundRect">
            <a:avLst>
              <a:gd name="adj" fmla="val 41176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7791F"/>
                </a:solidFill>
              </a:defRPr>
            </a:pPr>
            <a:r>
              <a:rPr sz="975" b="1" i="0">
                <a:solidFill>
                  <a:srgbClr val="B7791F"/>
                </a:solidFill>
              </a:rPr>
              <a:t>TRACE + CITATION PENDING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8FAF51-1432-4191-87F3-1B2E2B47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38600"/>
            <a:ext cx="1042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F57C69-34C1-4E2E-9D3E-0FF7525B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F766E"/>
                </a:solidFill>
              </a:defRPr>
            </a:pPr>
            <a:r>
              <a:rPr sz="1275" b="1" i="0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B1F6CB-D189-4B9F-867B-8B635F426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718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HOTEL CONFLICT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69DC48-5005-4948-975D-797894D4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290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International hotel · SGD 249.00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CB6E75-4EE7-40E2-8F5E-5A47F171A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28950"/>
            <a:ext cx="287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F766E"/>
                </a:solidFill>
              </a:defRPr>
            </a:pPr>
            <a:r>
              <a:rPr sz="1500" b="1" i="0">
                <a:solidFill>
                  <a:srgbClr val="0F766E"/>
                </a:solidFill>
              </a:rPr>
              <a:t>no approval ↔ manager approval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583C03-D66C-4C17-9FCC-66EEDAB34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8615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7D8C"/>
                </a:solidFill>
              </a:defRPr>
            </a:pPr>
            <a:r>
              <a:rPr sz="1200" b="0" i="0">
                <a:solidFill>
                  <a:srgbClr val="627D8C"/>
                </a:solidFill>
              </a:rPr>
              <a:t>No override resolves the clash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7ACD03-12B4-45F4-9FB5-A337B1F5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38500"/>
            <a:ext cx="2495550" cy="323850"/>
          </a:xfrm>
          <a:prstGeom xmlns:a="http://schemas.openxmlformats.org/drawingml/2006/main" prst="roundRect">
            <a:avLst>
              <a:gd name="adj" fmla="val 41176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7791F"/>
                </a:solidFill>
              </a:defRPr>
            </a:pPr>
            <a:r>
              <a:rPr sz="975" b="1" i="0">
                <a:solidFill>
                  <a:srgbClr val="B7791F"/>
                </a:solidFill>
              </a:rPr>
              <a:t>TRACE + CITATION PENDING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67C0D3-8774-4B70-868B-EAA5FD4D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10420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D0230B-E1CA-412A-A84E-F64EABD9D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67200"/>
            <a:ext cx="552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F766E"/>
                </a:solidFill>
              </a:defRPr>
            </a:pPr>
            <a:r>
              <a:rPr sz="1275" b="1" i="0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674CA9-0504-4A28-93CC-15EAAA5D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291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02A43"/>
                </a:solidFill>
              </a:defRPr>
            </a:pPr>
            <a:r>
              <a:rPr sz="1425" b="1" i="0">
                <a:solidFill>
                  <a:srgbClr val="102A43"/>
                </a:solidFill>
              </a:rPr>
              <a:t>DAILY CAP BREACH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FEEA49-A5A3-42FB-8E64-242DB67A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863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Meal SGD 60 + prior SGD 50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D4A483-5CAD-42F6-98C6-4E2E1153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86250"/>
            <a:ext cx="2876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F766E"/>
                </a:solidFill>
              </a:defRPr>
            </a:pPr>
            <a:r>
              <a:rPr sz="1500" b="1" i="0">
                <a:solidFill>
                  <a:srgbClr val="0F766E"/>
                </a:solidFill>
              </a:rPr>
              <a:t>eligible per claim → daily total 110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E2588E-6D77-40F9-84F5-33CFF17F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43450"/>
            <a:ext cx="2895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7D8C"/>
                </a:solidFill>
              </a:defRPr>
            </a:pPr>
            <a:r>
              <a:rPr sz="1200" b="0" i="0">
                <a:solidFill>
                  <a:srgbClr val="627D8C"/>
                </a:solidFill>
              </a:rPr>
              <a:t>Confirmed daily intent is breached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A6C0CE-D59C-43CF-A4D7-09348DE6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95800"/>
            <a:ext cx="2495550" cy="323850"/>
          </a:xfrm>
          <a:prstGeom xmlns:a="http://schemas.openxmlformats.org/drawingml/2006/main" prst="roundRect">
            <a:avLst>
              <a:gd name="adj" fmla="val 41176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7791F"/>
                </a:solidFill>
              </a:defRPr>
            </a:pPr>
            <a:r>
              <a:rPr sz="975" b="1" i="0">
                <a:solidFill>
                  <a:srgbClr val="B7791F"/>
                </a:solidFill>
              </a:rPr>
              <a:t>TRACE + CITATION PENDING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2DDC26-E0B7-47A4-A346-1B2463F2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5785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7791F"/>
                </a:solidFill>
              </a:defRPr>
            </a:pPr>
            <a:r>
              <a:rPr sz="1050" b="1" i="0">
                <a:solidFill>
                  <a:srgbClr val="B7791F"/>
                </a:solidFill>
              </a:rPr>
              <a:t>PLANNED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D08839-B5D3-4622-BD4D-9FF63B9F7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81650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243B53"/>
                </a:solidFill>
              </a:defRPr>
            </a:pPr>
            <a:r>
              <a:rPr sz="1275" b="0" i="0">
                <a:solidFill>
                  <a:srgbClr val="243B53"/>
                </a:solidFill>
              </a:rPr>
              <a:t>Final witnesses, authoritative traces, and exact policy citations will be captured only from the verified build.</a:t>
            </a:r>
          </a:p>
        </p:txBody>
      </p:sp>
    </p:spTree>
    <p:extLst>
      <p:ext uri="{BB962C8B-B14F-4D97-AF65-F5344CB8AC3E}">
        <p14:creationId xmlns:p14="http://schemas.microsoft.com/office/powerpoint/2010/main" val="10194332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2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859ED9-2DAE-4B5E-B601-C0A21524C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2713E9-F3D4-4B00-B3BE-4CA89BA8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EVIDENCE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1F9671-D09D-4918-8FA5-9E4FCE5F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619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627D8C"/>
                </a:solidFill>
              </a:defRPr>
            </a:pPr>
            <a:r>
              <a:rPr sz="1125" b="1" i="0">
                <a:solidFill>
                  <a:srgbClr val="627D8C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35FD3B-9F36-45F8-8049-FF1B09AF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183846-064D-4BB8-A814-8295194F4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D8C"/>
                </a:solidFill>
              </a:defRPr>
            </a:pPr>
            <a:r>
              <a:rPr sz="825" b="1" i="0">
                <a:solidFill>
                  <a:srgbClr val="627D8C"/>
                </a:solidFill>
              </a:rPr>
              <a:t>POLICYFUZZ · REVIEWABLE DRAFT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0627D9-6F1F-417C-AE21-E45B0C107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Measured results wait for a frozen evidence chain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817547-5CCF-4753-803B-9A713E45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2419350" cy="323850"/>
          </a:xfrm>
          <a:prstGeom xmlns:a="http://schemas.openxmlformats.org/drawingml/2006/main" prst="roundRect">
            <a:avLst>
              <a:gd name="adj" fmla="val 41176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7791F"/>
                </a:solidFill>
              </a:defRPr>
            </a:pPr>
            <a:r>
              <a:rPr sz="975" b="1" i="0">
                <a:solidFill>
                  <a:srgbClr val="B7791F"/>
                </a:solidFill>
              </a:rPr>
              <a:t>MEASURED RESULTS: PENDING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BFC31-6EED-4F12-9D89-1789123A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3219450" cy="2876550"/>
          </a:xfrm>
          <a:prstGeom xmlns:a="http://schemas.openxmlformats.org/drawingml/2006/main" prst="roundRect">
            <a:avLst>
              <a:gd name="adj" fmla="val 4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7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9F2149-44D2-4ABC-A2F6-B8C01BC4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F766E"/>
                </a:solidFill>
              </a:defRPr>
            </a:pPr>
            <a:r>
              <a:rPr sz="1200" b="1" i="0">
                <a:solidFill>
                  <a:srgbClr val="0F766E"/>
                </a:solidFill>
              </a:rPr>
              <a:t>DEVELOPMENT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A59213-BA87-42EB-94E6-62628C8B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Known synthetic defects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B6EFDC-37AB-4F86-9D0E-23D9CC320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27813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Exact finding match</a:t>
            </a:r>
          </a:p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Citation integrity</a:t>
            </a:r>
          </a:p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Coverage + replay</a:t>
            </a:r>
          </a:p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Same-suite patch gates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494C37-6795-45A9-AD07-472CA777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133600"/>
            <a:ext cx="3219450" cy="2876550"/>
          </a:xfrm>
          <a:prstGeom xmlns:a="http://schemas.openxmlformats.org/drawingml/2006/main" prst="roundRect">
            <a:avLst>
              <a:gd name="adj" fmla="val 4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BD7D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F82353-F85D-4833-9CEF-492DC687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62200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F766E"/>
                </a:solidFill>
              </a:defRPr>
            </a:pPr>
            <a:r>
              <a:rPr sz="1200" b="1" i="0">
                <a:solidFill>
                  <a:srgbClr val="0F766E"/>
                </a:solidFill>
              </a:rPr>
              <a:t>CORRECTED CONTROL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59C0F0-E572-42BA-80E4-702E974A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813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Regression challenge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30ACC7-8868-4B59-9AC1-A6E70B34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562350"/>
            <a:ext cx="27813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No confirmed target defect</a:t>
            </a:r>
          </a:p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Protected assertions</a:t>
            </a:r>
          </a:p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No new gaps or conflicts</a:t>
            </a:r>
          </a:p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Same engine + suite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A8D7DB-8CC3-42F4-9CEE-7F3CA937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33600"/>
            <a:ext cx="3219450" cy="2876550"/>
          </a:xfrm>
          <a:prstGeom xmlns:a="http://schemas.openxmlformats.org/drawingml/2006/main" prst="roundRect">
            <a:avLst>
              <a:gd name="adj" fmla="val 4636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11430">
            <a:solidFill>
              <a:srgbClr val="E7C98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1EEC19-B05C-4DDC-853C-1A18C1382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62200"/>
            <a:ext cx="2800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7791F"/>
                </a:solidFill>
              </a:defRPr>
            </a:pPr>
            <a:r>
              <a:rPr sz="1200" b="1" i="0">
                <a:solidFill>
                  <a:srgbClr val="B7791F"/>
                </a:solidFill>
              </a:rPr>
              <a:t>BLIND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143D60-9098-437C-8515-14F40A292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81300"/>
            <a:ext cx="280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Late-sealed candidate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5D0439-2D38-4DA2-B041-92066F39F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62350"/>
            <a:ext cx="27813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Human review pending</a:t>
            </a:r>
          </a:p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Scoring-ineligible</a:t>
            </a:r>
          </a:p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First-run custody required</a:t>
            </a:r>
          </a:p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No headline claim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059E7B-F084-4851-B1F0-072A02F9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8C"/>
                </a:solidFill>
              </a:defRPr>
            </a:pPr>
            <a:r>
              <a:rPr sz="1125" b="1" i="0">
                <a:solidFill>
                  <a:srgbClr val="627D8C"/>
                </a:solidFill>
              </a:rPr>
              <a:t>Release chain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A54526-CDD2-4A0A-8BEA-C3F2DACA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334000"/>
            <a:ext cx="9010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43B53"/>
                </a:solidFill>
              </a:defRPr>
            </a:pPr>
            <a:r>
              <a:rPr sz="1350" b="1" i="0">
                <a:solidFill>
                  <a:srgbClr val="243B53"/>
                </a:solidFill>
              </a:rPr>
              <a:t>Gate B report  →  demo-core-v1  →  6-hour freeze  →  evidence capture  →  reviewer checks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7F9452-B833-462B-91D0-DE908925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772150"/>
            <a:ext cx="8934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0F766E"/>
                </a:solidFill>
              </a:defRPr>
            </a:pPr>
            <a:r>
              <a:rPr sz="1200" b="0" i="0">
                <a:solidFill>
                  <a:srgbClr val="0F766E"/>
                </a:solidFill>
              </a:rPr>
              <a:t>Results will be reported with their frozen suite, engine, and source evidence.</a:t>
            </a:r>
          </a:p>
        </p:txBody>
      </p:sp>
    </p:spTree>
    <p:extLst>
      <p:ext uri="{BB962C8B-B14F-4D97-AF65-F5344CB8AC3E}">
        <p14:creationId xmlns:p14="http://schemas.microsoft.com/office/powerpoint/2010/main" val="16295407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2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47808C-75D2-414D-8E4A-E8071FE77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38AD6C-093C-47FE-8350-2A122399E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IMPACT HYPOTHESIS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2AD39F-1325-418A-947C-969AA77C7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3619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1" i="0">
                <a:solidFill>
                  <a:srgbClr val="627D8C"/>
                </a:solidFill>
              </a:defRPr>
            </a:pPr>
            <a:r>
              <a:rPr sz="1125" b="1" i="0">
                <a:solidFill>
                  <a:srgbClr val="627D8C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A2D72-4727-41C0-9838-DA4F57AC7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5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7DE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7C001-37D7-444C-BEE2-4DFC86889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34150"/>
            <a:ext cx="323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D8C"/>
                </a:solidFill>
              </a:defRPr>
            </a:pPr>
            <a:r>
              <a:rPr sz="825" b="1" i="0">
                <a:solidFill>
                  <a:srgbClr val="627D8C"/>
                </a:solidFill>
              </a:rPr>
              <a:t>POLICYFUZZ · REVIEWABLE DRAFT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878504-89E5-4891-936A-F32E9C53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42950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A43"/>
                </a:solidFill>
              </a:defRPr>
            </a:pPr>
            <a:r>
              <a:rPr sz="3000" b="1" i="0">
                <a:solidFill>
                  <a:srgbClr val="102A43"/>
                </a:solidFill>
              </a:rPr>
              <a:t>The impact hypothesis is better review evidence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FB6180-A9E9-4AAD-8EE1-204B2536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D8C"/>
                </a:solidFill>
              </a:defRPr>
            </a:pPr>
            <a:r>
              <a:rPr sz="1125" b="1" i="0">
                <a:solidFill>
                  <a:srgbClr val="627D8C"/>
                </a:solidFill>
              </a:rPr>
              <a:t>TODAY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570758-6BFA-44E9-8A86-3CE57D69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42862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02A43"/>
                </a:solidFill>
              </a:defRPr>
            </a:pPr>
            <a:r>
              <a:rPr sz="2100" b="1" i="0">
                <a:solidFill>
                  <a:srgbClr val="102A43"/>
                </a:solidFill>
              </a:rPr>
              <a:t>Policy review relies on memory, spot checks, and examples that change between reviewers.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1B9E18-6F87-4E19-B171-17F6C30B0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676400"/>
            <a:ext cx="0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BD7D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0F3316-E3F6-4F45-A6C7-73304C0A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752600"/>
            <a:ext cx="139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F766E"/>
                </a:solidFill>
              </a:defRPr>
            </a:pPr>
            <a:r>
              <a:rPr sz="1125" b="1" i="0">
                <a:solidFill>
                  <a:srgbClr val="0F766E"/>
                </a:solidFill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1AD072-844D-48DB-BFC8-7198924D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9075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8CA782-3E8C-427D-B1B1-DBDCC3AF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181225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Broader review coverage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F689EF-E6E6-417D-B00A-163B565A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53365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Systematic boundaries and combinations expose what was exercised.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4CB1ED-3958-4510-85E9-CC46A4B14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2900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3D84D2-E03B-4E7A-81FC-588502F6E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419475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Traceable decisions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7B72E1-0B2D-44B9-86EC-2D1B6820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77190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Facts, rule paths, and citations make disagreements inspectable.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741CCC-C815-443C-963B-C2EA1EDA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667250"/>
            <a:ext cx="457200" cy="457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DD0D70-D55B-4E48-B056-BDF5244B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657725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Regression evidence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9609B7-7256-400A-B37B-2255FF76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010150"/>
            <a:ext cx="419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D8C"/>
                </a:solidFill>
              </a:defRPr>
            </a:pPr>
            <a:r>
              <a:rPr sz="1275" b="0" i="0">
                <a:solidFill>
                  <a:srgbClr val="627D8C"/>
                </a:solidFill>
              </a:rPr>
              <a:t>The same frozen suite tests a confirmed structured change.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205ABD-74FC-46D4-A70A-C4F9D68CF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4000500" cy="323850"/>
          </a:xfrm>
          <a:prstGeom xmlns:a="http://schemas.openxmlformats.org/drawingml/2006/main" prst="roundRect">
            <a:avLst>
              <a:gd name="adj" fmla="val 41176"/>
            </a:avLst>
          </a:prstGeom>
          <a:solidFill xmlns:a="http://schemas.openxmlformats.org/drawingml/2006/main">
            <a:srgbClr val="FFF3D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B7791F"/>
                </a:solidFill>
              </a:defRPr>
            </a:pPr>
            <a:r>
              <a:rPr sz="975" b="1" i="0">
                <a:solidFill>
                  <a:srgbClr val="B7791F"/>
                </a:solidFill>
              </a:rPr>
              <a:t>NO ROI OR SAVINGS CLAIM BEFORE MEASUREMENT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0C2F12-AA6C-4366-873E-E8CC167A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62600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27D8C"/>
                </a:solidFill>
              </a:defRPr>
            </a:pPr>
            <a:r>
              <a:rPr sz="1050" b="1" i="0">
                <a:solidFill>
                  <a:srgbClr val="627D8C"/>
                </a:solidFill>
              </a:rPr>
              <a:t>Future proof points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2B3BFE-41FA-4324-BCDF-3D5ACE51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505450"/>
            <a:ext cx="800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243B53"/>
                </a:solidFill>
              </a:defRPr>
            </a:pPr>
            <a:r>
              <a:rPr sz="1200" b="0" i="0">
                <a:solidFill>
                  <a:srgbClr val="243B53"/>
                </a:solidFill>
              </a:rPr>
              <a:t>time to first actionable finding · total run time · confirmations · model calls · provider cost or N/A</a:t>
            </a:r>
          </a:p>
        </p:txBody>
      </p:sp>
    </p:spTree>
    <p:extLst>
      <p:ext uri="{BB962C8B-B14F-4D97-AF65-F5344CB8AC3E}">
        <p14:creationId xmlns:p14="http://schemas.microsoft.com/office/powerpoint/2010/main" val="12929080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D4FEED-CAC5-4321-82EC-5BBA5ED2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948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064A93-AE4D-459B-AA95-C7D7FD7A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DE2D7"/>
                </a:solidFill>
              </a:defRPr>
            </a:pPr>
            <a:r>
              <a:rPr sz="1125" b="1" i="0">
                <a:solidFill>
                  <a:srgbClr val="7DE2D7"/>
                </a:solidFill>
              </a:rPr>
              <a:t>09 · LIMITS, TEAM, REPOSITORY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13CE0F-7B80-469A-B9D7-00E4A4574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47750"/>
            <a:ext cx="7048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A narrow prototype</a:t>
            </a:r>
          </a:p>
          <a:p xmlns:a="http://schemas.openxmlformats.org/drawingml/2006/main">
            <a:pPr algn="l">
              <a:defRPr sz="3750" b="1" i="0">
                <a:solidFill>
                  <a:srgbClr val="FFFFFF"/>
                </a:solidFill>
              </a:defRPr>
            </a:pPr>
            <a:r>
              <a:rPr sz="3750" b="1" i="0">
                <a:solidFill>
                  <a:srgbClr val="FFFFFF"/>
                </a:solidFill>
              </a:rPr>
              <a:t>with a clear finish 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A3C070-5982-4C1D-B551-F487F487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7DE2D7"/>
                </a:solidFill>
              </a:defRPr>
            </a:pPr>
            <a:r>
              <a:rPr sz="1200" b="1" i="0">
                <a:solidFill>
                  <a:srgbClr val="7DE2D7"/>
                </a:solidFill>
              </a:rPr>
              <a:t>The intended 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515B09-02EF-47B3-B4E7-FD3AEDA9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6572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D9E7EE"/>
                </a:solidFill>
              </a:defRPr>
            </a:pPr>
            <a:r>
              <a:rPr sz="1950" b="0" i="0">
                <a:solidFill>
                  <a:srgbClr val="D9E7EE"/>
                </a:solidFill>
              </a:rPr>
              <a:t>A session-confirmed structured change fixes targeted failures and introduces no protected regressions in the disclosed frozen suite.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90ABE1-7CFC-4D78-A3FC-2AF0D1C0A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933450"/>
            <a:ext cx="0" cy="476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47677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E685C4-EF04-47AE-8B7F-819D8A0FE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0287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Limits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BB95DB-7F77-4905-9EEB-27AFEAAF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62100"/>
            <a:ext cx="31051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D9E7EE"/>
                </a:solidFill>
              </a:defRPr>
            </a:pPr>
            <a:r>
              <a:rPr sz="1350" b="0" i="0">
                <a:solidFill>
                  <a:srgbClr val="D9E7EE"/>
                </a:solidFill>
              </a:rPr>
              <a:t>Prototype; validation pending</a:t>
            </a:r>
          </a:p>
          <a:p xmlns:a="http://schemas.openxmlformats.org/drawingml/2006/main">
            <a:pPr algn="l">
              <a:defRPr sz="1350" b="0" i="0">
                <a:solidFill>
                  <a:srgbClr val="D9E7EE"/>
                </a:solidFill>
              </a:defRPr>
            </a:pPr>
            <a:r>
              <a:rPr sz="1350" b="0" i="0">
                <a:solidFill>
                  <a:srgbClr val="D9E7EE"/>
                </a:solidFill>
              </a:rPr>
              <a:t>Synthetic T&amp;E scope</a:t>
            </a:r>
          </a:p>
          <a:p xmlns:a="http://schemas.openxmlformats.org/drawingml/2006/main">
            <a:pPr algn="l">
              <a:defRPr sz="1350" b="0" i="0">
                <a:solidFill>
                  <a:srgbClr val="D9E7EE"/>
                </a:solidFill>
              </a:defRPr>
            </a:pPr>
            <a:r>
              <a:rPr sz="1350" b="0" i="0">
                <a:solidFill>
                  <a:srgbClr val="D9E7EE"/>
                </a:solidFill>
              </a:rPr>
              <a:t>No legal-compliance claim</a:t>
            </a:r>
          </a:p>
          <a:p xmlns:a="http://schemas.openxmlformats.org/drawingml/2006/main">
            <a:pPr algn="l">
              <a:defRPr sz="1350" b="0" i="0">
                <a:solidFill>
                  <a:srgbClr val="D9E7EE"/>
                </a:solidFill>
              </a:defRPr>
            </a:pPr>
            <a:r>
              <a:rPr sz="1350" b="0" i="0">
                <a:solidFill>
                  <a:srgbClr val="D9E7EE"/>
                </a:solidFill>
              </a:rPr>
              <a:t>No automatic publication</a:t>
            </a:r>
          </a:p>
          <a:p xmlns:a="http://schemas.openxmlformats.org/drawingml/2006/main">
            <a:pPr algn="l">
              <a:defRPr sz="1350" b="0" i="0">
                <a:solidFill>
                  <a:srgbClr val="D9E7EE"/>
                </a:solidFill>
              </a:defRPr>
            </a:pPr>
            <a:r>
              <a:rPr sz="1350" b="0" i="0">
                <a:solidFill>
                  <a:srgbClr val="D9E7EE"/>
                </a:solidFill>
              </a:rPr>
              <a:t>Human confirmation remains required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CB4349-138B-41E5-8162-28D5A21F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33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Five-person ownership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7B4962-01E7-40DE-BC9E-26DE57CA5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29050"/>
            <a:ext cx="3162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D9E7EE"/>
                </a:solidFill>
              </a:defRPr>
            </a:pPr>
            <a:r>
              <a:rPr sz="1275" b="0" i="0">
                <a:solidFill>
                  <a:srgbClr val="D9E7EE"/>
                </a:solidFill>
              </a:rPr>
              <a:t>P1 integration · P2 policy · P3 fuzzing</a:t>
            </a:r>
          </a:p>
          <a:p xmlns:a="http://schemas.openxmlformats.org/drawingml/2006/main">
            <a:pPr algn="l">
              <a:defRPr sz="1275" b="0" i="0">
                <a:solidFill>
                  <a:srgbClr val="D9E7EE"/>
                </a:solidFill>
              </a:defRPr>
            </a:pPr>
            <a:r>
              <a:rPr sz="1275" b="0" i="0">
                <a:solidFill>
                  <a:srgbClr val="D9E7EE"/>
                </a:solidFill>
              </a:rPr>
              <a:t>P4 evaluation · P5 product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8FFDD5-246B-4F46-85BB-40156370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101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7DE2D7"/>
                </a:solidFill>
              </a:defRPr>
            </a:pPr>
            <a:r>
              <a:rPr sz="1275" b="1" i="0">
                <a:solidFill>
                  <a:srgbClr val="7DE2D7"/>
                </a:solidFill>
              </a:rPr>
              <a:t>github.com/Luigi-Simon/policyfuzz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84248-3DC1-4E02-9C94-FAB8786D1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14950"/>
            <a:ext cx="1866900" cy="323850"/>
          </a:xfrm>
          <a:prstGeom xmlns:a="http://schemas.openxmlformats.org/drawingml/2006/main" prst="roundRect">
            <a:avLst>
              <a:gd name="adj" fmla="val 41176"/>
            </a:avLst>
          </a:prstGeom>
          <a:solidFill xmlns:a="http://schemas.openxmlformats.org/drawingml/2006/main">
            <a:srgbClr val="174A5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D7F7F2"/>
                </a:solidFill>
              </a:defRPr>
            </a:pPr>
            <a:r>
              <a:rPr sz="975" b="1" i="0">
                <a:solidFill>
                  <a:srgbClr val="D7F7F2"/>
                </a:solidFill>
              </a:rPr>
              <a:t>VALIDATION PENDING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29E385-FD28-4F32-B3CC-09D359A6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314950"/>
            <a:ext cx="4629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FFFFFF"/>
                </a:solidFill>
              </a:defRPr>
            </a:pPr>
            <a:r>
              <a:rPr sz="1275" b="0" i="0">
                <a:solidFill>
                  <a:srgbClr val="FFFFFF"/>
                </a:solidFill>
              </a:rPr>
              <a:t>Next: capture verified results and footage after Gate B.</a:t>
            </a:r>
          </a:p>
        </p:txBody>
      </p:sp>
    </p:spTree>
    <p:extLst>
      <p:ext uri="{BB962C8B-B14F-4D97-AF65-F5344CB8AC3E}">
        <p14:creationId xmlns:p14="http://schemas.microsoft.com/office/powerpoint/2010/main" val="15244984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2026-09-06T07:44:53.4930000Z</dcterms:created>
  <dcterms:modified xsi:type="dcterms:W3CDTF">2026-09-06T07:44:53.4930000Z</dcterms:modified>
</coreProperties>
</file>