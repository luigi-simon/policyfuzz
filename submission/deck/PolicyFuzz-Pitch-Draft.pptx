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eeda999fab4ab7" /><Relationship Type="http://schemas.openxmlformats.org/officeDocument/2006/relationships/extended-properties" Target="/docProps/app.xml" Id="R95b06032d6da45b3" /><Relationship Type="http://schemas.openxmlformats.org/officeDocument/2006/relationships/officeDocument" Target="/ppt/presentation.xml" Id="R63900fdfb3dd4e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a50fb1041a4517"/>
  </p:sldMasterIdLst>
  <p:notesMasterIdLst>
    <p:notesMasterId xmlns:r="http://schemas.openxmlformats.org/officeDocument/2006/relationships" r:id="R090b698c25f243ec"/>
  </p:notesMasterIdLst>
  <p:sldIdLst>
    <p:sldId xmlns:r="http://schemas.openxmlformats.org/officeDocument/2006/relationships" id="256" r:id="R4de847c2c8e54078"/>
    <p:sldId xmlns:r="http://schemas.openxmlformats.org/officeDocument/2006/relationships" id="257" r:id="R7fe8070bc00f4cd9"/>
    <p:sldId xmlns:r="http://schemas.openxmlformats.org/officeDocument/2006/relationships" id="258" r:id="Re2df77f0498d4e3a"/>
    <p:sldId xmlns:r="http://schemas.openxmlformats.org/officeDocument/2006/relationships" id="259" r:id="R3442d6bd086a4228"/>
    <p:sldId xmlns:r="http://schemas.openxmlformats.org/officeDocument/2006/relationships" id="260" r:id="Re21bcf75a66d4358"/>
    <p:sldId xmlns:r="http://schemas.openxmlformats.org/officeDocument/2006/relationships" id="261" r:id="Rd42042568ba84472"/>
    <p:sldId xmlns:r="http://schemas.openxmlformats.org/officeDocument/2006/relationships" id="262" r:id="R62247b7e0ab84c5d"/>
    <p:sldId xmlns:r="http://schemas.openxmlformats.org/officeDocument/2006/relationships" id="263" r:id="Rcd86860ee8a0454a"/>
    <p:sldId xmlns:r="http://schemas.openxmlformats.org/officeDocument/2006/relationships" id="264" r:id="R80a76c16c5ad47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7d2d34e3ee44ee" /><Relationship Type="http://schemas.openxmlformats.org/officeDocument/2006/relationships/slideMaster" Target="/ppt/slideMasters/slideMaster1.xml" Id="R68a50fb1041a4517" /><Relationship Type="http://schemas.openxmlformats.org/officeDocument/2006/relationships/notesMaster" Target="/ppt/notesMasters/notesMaster1.xml" Id="R090b698c25f243ec" /><Relationship Type="http://schemas.openxmlformats.org/officeDocument/2006/relationships/presProps" Target="/ppt/presProps.xml" Id="R67c4189b3c8d4991" /><Relationship Type="http://schemas.openxmlformats.org/officeDocument/2006/relationships/tableStyles" Target="/ppt/tableStyles.xml" Id="R6bc2a160352e439b" /><Relationship Type="http://schemas.openxmlformats.org/officeDocument/2006/relationships/slide" Target="/ppt/slides/slide1.xml" Id="R4de847c2c8e54078" /><Relationship Type="http://schemas.openxmlformats.org/officeDocument/2006/relationships/slide" Target="/ppt/slides/slide2.xml" Id="R7fe8070bc00f4cd9" /><Relationship Type="http://schemas.openxmlformats.org/officeDocument/2006/relationships/slide" Target="/ppt/slides/slide3.xml" Id="Re2df77f0498d4e3a" /><Relationship Type="http://schemas.openxmlformats.org/officeDocument/2006/relationships/slide" Target="/ppt/slides/slide4.xml" Id="R3442d6bd086a4228" /><Relationship Type="http://schemas.openxmlformats.org/officeDocument/2006/relationships/slide" Target="/ppt/slides/slide5.xml" Id="Re21bcf75a66d4358" /><Relationship Type="http://schemas.openxmlformats.org/officeDocument/2006/relationships/slide" Target="/ppt/slides/slide6.xml" Id="Rd42042568ba84472" /><Relationship Type="http://schemas.openxmlformats.org/officeDocument/2006/relationships/slide" Target="/ppt/slides/slide7.xml" Id="R62247b7e0ab84c5d" /><Relationship Type="http://schemas.openxmlformats.org/officeDocument/2006/relationships/slide" Target="/ppt/slides/slide8.xml" Id="Rcd86860ee8a0454a" /><Relationship Type="http://schemas.openxmlformats.org/officeDocument/2006/relationships/slide" Target="/ppt/slides/slide9.xml" Id="R80a76c16c5ad47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b1f85edaf540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5d46db1aaf4588" /><Relationship Type="http://schemas.openxmlformats.org/officeDocument/2006/relationships/notesMaster" Target="/ppt/notesMasters/notesMaster1.xml" Id="R35819df3b5ba4c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bead81a4e74e03" /><Relationship Type="http://schemas.openxmlformats.org/officeDocument/2006/relationships/notesMaster" Target="/ppt/notesMasters/notesMaster1.xml" Id="Rf6879e4e0c454f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2c5675423e43cc" /><Relationship Type="http://schemas.openxmlformats.org/officeDocument/2006/relationships/notesMaster" Target="/ppt/notesMasters/notesMaster1.xml" Id="Rd0831c65f4804b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abcc7c12654da6" /><Relationship Type="http://schemas.openxmlformats.org/officeDocument/2006/relationships/notesMaster" Target="/ppt/notesMasters/notesMaster1.xml" Id="R4c98087eb7d14b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8773e765a84b2c" /><Relationship Type="http://schemas.openxmlformats.org/officeDocument/2006/relationships/notesMaster" Target="/ppt/notesMasters/notesMaster1.xml" Id="R25006284333042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a0da5db7e546a2" /><Relationship Type="http://schemas.openxmlformats.org/officeDocument/2006/relationships/notesMaster" Target="/ppt/notesMasters/notesMaster1.xml" Id="R9f51d9215b3343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01824e0a9342ab" /><Relationship Type="http://schemas.openxmlformats.org/officeDocument/2006/relationships/notesMaster" Target="/ppt/notesMasters/notesMaster1.xml" Id="R18b6e374ae2340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96f379c3bb46c7" /><Relationship Type="http://schemas.openxmlformats.org/officeDocument/2006/relationships/notesMaster" Target="/ppt/notesMasters/notesMaster1.xml" Id="R8e81308cc6b348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196703b0c146ce" /><Relationship Type="http://schemas.openxmlformats.org/officeDocument/2006/relationships/notesMaster" Target="/ppt/notesMasters/notesMaster1.xml" Id="Rfa9a0219a8d944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gap between prose review and executable regression evidence.</a:t>
            </a:r>
          </a:p>
          <a:p xmlns:a="http://schemas.openxmlformats.org/drawingml/2006/main">
            <a:r>
              <a:t>State that this is a prototype and that validation remains pending.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docs/superpowers/plans/2026-09-04-policyfuzz-implementation.md — Task 24, slide 1</a:t>
            </a:r>
          </a:p>
          <a:p xmlns:a="http://schemas.openxmlformats.org/drawingml/2006/main">
            <a:r>
              <a:t>- docs/superpowers/specs/2026-09-04-policyfuzz-design.md — §§17 and 19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user and burden as a product hypothesis, not market validation.</a:t>
            </a:r>
          </a:p>
          <a:p xmlns:a="http://schemas.openxmlformats.org/drawingml/2006/main">
            <a:r>
              <a:t>Use Finance and People Ops as the initial T&amp;E owners identified in the approved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docs/superpowers/plans/2026-09-04-policyfuzz-implementation.md — Task 24, slide 2</a:t>
            </a:r>
          </a:p>
          <a:p xmlns:a="http://schemas.openxmlformats.org/drawingml/2006/main">
            <a:r>
              <a:t>- docs/superpowers/specs/2026-09-04-policyfuzz-design.md — §§1, 12.3 and 17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 through the approved user journey.</a:t>
            </a:r>
          </a:p>
          <a:p xmlns:a="http://schemas.openxmlformats.org/drawingml/2006/main">
            <a:r>
              <a:t>A mode label must distinguish live behavior from cached recorded artifacts.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docs/superpowers/plans/2026-09-04-policyfuzz-implementation.md — Task 24, slides 3 and video plan</a:t>
            </a:r>
          </a:p>
          <a:p xmlns:a="http://schemas.openxmlformats.org/drawingml/2006/main">
            <a:r>
              <a:t>- docs/superpowers/specs/2026-09-04-policyfuzz-design.md — §§9, 12.2 and 17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cached rehearsal satisfies minimum coverage in the initial provisional suite, so it freezes without adaptation.</a:t>
            </a:r>
          </a:p>
          <a:p xmlns:a="http://schemas.openxmlformats.org/drawingml/2006/main">
            <a:r>
              <a:t>One targeted cycle remains the upper bound when coverage is missing; it is not a mandatory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samples/cached-demo/run-record.json — scenario suite statistics and coverage</a:t>
            </a:r>
          </a:p>
          <a:p xmlns:a="http://schemas.openxmlformats.org/drawingml/2006/main">
            <a:r>
              <a:t>- docs/superpowers/specs/2026-09-04-policyfuzz-design.md — §12.2 frozen-suite procedure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diagram to make the model/Python responsibility split explicit.</a:t>
            </a:r>
          </a:p>
          <a:p xmlns:a="http://schemas.openxmlformats.org/drawingml/2006/main">
            <a:r>
              <a:t>This is the approved target modular-monolith architecture; final integration remains pending.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docs/superpowers/specs/2026-09-04-policyfuzz-design.md — §§3, 7, 9 and 11</a:t>
            </a:r>
          </a:p>
          <a:p xmlns:a="http://schemas.openxmlformats.org/drawingml/2006/main">
            <a:r>
              <a:t>- docs/superpowers/plans/2026-09-04-policyfuzz-implementation.md — Task 24, slide 5</a:t>
            </a:r>
          </a:p>
          <a:p xmlns:a="http://schemas.openxmlformats.org/drawingml/2006/main">
            <a:r>
              <a:t>- team/person-1-integration/HANDOFF.md — current integration limitations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these as findings in the current public cached rehearsal, not frozen benchmark claims.</a:t>
            </a:r>
          </a:p>
          <a:p xmlns:a="http://schemas.openxmlformats.org/drawingml/2006/main">
            <a:r>
              <a:t>Exact browser witnesses, traces, and policy-span citations remain capture dependencies.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samples/cached-demo/run-record.json — baseline finding report and authored decisions</a:t>
            </a:r>
          </a:p>
          <a:p xmlns:a="http://schemas.openxmlformats.org/drawingml/2006/main">
            <a:r>
              <a:t>- samples/cached-demo/summary.json — baseline finding count and cached provenance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measured values from the current public cached rehearsal record, not final verified metrics.</a:t>
            </a:r>
          </a:p>
          <a:p xmlns:a="http://schemas.openxmlformats.org/drawingml/2006/main">
            <a:r>
              <a:t>Keep synthetic, cached, scripted, and blind-ineligible labels visible; final claims still require Gate B, freeze, capture, and human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samples/cached-demo/summary.json</a:t>
            </a:r>
          </a:p>
          <a:p xmlns:a="http://schemas.openxmlformats.org/drawingml/2006/main">
            <a:r>
              <a:t>- samples/cached-demo/run-record.json</a:t>
            </a:r>
          </a:p>
          <a:p xmlns:a="http://schemas.openxmlformats.org/drawingml/2006/main">
            <a:r>
              <a:t>- submission/evidence/benchmark-v2/provenance.json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impact language explicitly hypothetical until tagged-build measurements exist.</a:t>
            </a:r>
          </a:p>
          <a:p xmlns:a="http://schemas.openxmlformats.org/drawingml/2006/main">
            <a:r>
              <a:t>The approved business proxies are operational measurements, not ROI or user-validation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docs/superpowers/specs/2026-09-04-policyfuzz-design.md — §12.3 operational business proxies</a:t>
            </a:r>
          </a:p>
          <a:p xmlns:a="http://schemas.openxmlformats.org/drawingml/2006/main">
            <a:r>
              <a:t>- docs/superpowers/plans/2026-09-04-policyfuzz-implementation.md — Task 24, slides 7–8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narrow intended proof, then state the present limitations plainly.</a:t>
            </a:r>
          </a:p>
          <a:p xmlns:a="http://schemas.openxmlformats.org/drawingml/2006/main">
            <a:r>
              <a:t>Team roles are ownership areas only; no individual names are invented.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docs/superpowers/specs/2026-09-04-policyfuzz-design.md — §§11, 18 and 19</a:t>
            </a:r>
          </a:p>
          <a:p xmlns:a="http://schemas.openxmlformats.org/drawingml/2006/main">
            <a:r>
              <a:t>- docs/superpowers/plans/2026-09-04-policyfuzz-implementation.md — Task 24, slide 9</a:t>
            </a:r>
          </a:p>
          <a:p xmlns:a="http://schemas.openxmlformats.org/drawingml/2006/main">
            <a:r>
              <a:t>- AGENTS.md and team/person-5-product/AGENTS.md</a:t>
            </a:r>
          </a:p>
          <a:p xmlns:a="http://schemas.openxmlformats.org/drawingml/2006/main">
            <a:r>
              <a:t>- git remote origin — https://github.com/Luigi-Simon/policyfuzz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6482ace1464c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a34ab4c6474231" /><Relationship Type="http://schemas.openxmlformats.org/officeDocument/2006/relationships/slideLayout" Target="/ppt/slideLayouts/slideLayout1.xml" Id="R6e7b9c9e910e40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7b9c9e910e40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180b42eb549e6" /><Relationship Type="http://schemas.openxmlformats.org/officeDocument/2006/relationships/notesSlide" Target="/ppt/notesSlides/notesSlide1.xml" Id="Rf0eb732bbbf442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e62cadbb04fa6" /><Relationship Type="http://schemas.openxmlformats.org/officeDocument/2006/relationships/notesSlide" Target="/ppt/notesSlides/notesSlide2.xml" Id="R20e552fdeec541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d6064f49f49f0" /><Relationship Type="http://schemas.openxmlformats.org/officeDocument/2006/relationships/notesSlide" Target="/ppt/notesSlides/notesSlide3.xml" Id="R0dcefe59f31640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35da0bd5a4cce" /><Relationship Type="http://schemas.openxmlformats.org/officeDocument/2006/relationships/notesSlide" Target="/ppt/notesSlides/notesSlide4.xml" Id="R01a151858aae44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92c5bb257498b" /><Relationship Type="http://schemas.openxmlformats.org/officeDocument/2006/relationships/notesSlide" Target="/ppt/notesSlides/notesSlide5.xml" Id="Rcb1f13d3f27f40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98678293143c4" /><Relationship Type="http://schemas.openxmlformats.org/officeDocument/2006/relationships/notesSlide" Target="/ppt/notesSlides/notesSlide6.xml" Id="Ra64f0fc7165544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c9a05f1a446c4" /><Relationship Type="http://schemas.openxmlformats.org/officeDocument/2006/relationships/notesSlide" Target="/ppt/notesSlides/notesSlide7.xml" Id="R050a1864f0f44c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45bdb44b64cfd" /><Relationship Type="http://schemas.openxmlformats.org/officeDocument/2006/relationships/notesSlide" Target="/ppt/notesSlides/notesSlide8.xml" Id="R13d8ea2af2fe41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b119340804e5c" /><Relationship Type="http://schemas.openxmlformats.org/officeDocument/2006/relationships/notesSlide" Target="/ppt/notesSlides/notesSlide9.xml" Id="Rcb35e8dde43041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60335-883D-487C-9350-6A57B3E3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F83B8-3C21-4938-B841-C95EAB54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D948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FF10F-9235-487A-ACC6-42A921EA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DE2D7"/>
                </a:solidFill>
              </a:defRPr>
            </a:pPr>
            <a:r>
              <a:rPr sz="1200" b="1" i="0">
                <a:solidFill>
                  <a:srgbClr val="7DE2D7"/>
                </a:solidFill>
              </a:rPr>
              <a:t>POLICYFUZZ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D18DA-DB29-4497-91D0-645C7612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76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</a:defRPr>
            </a:pPr>
            <a:r>
              <a:rPr sz="4350" b="1" i="0">
                <a:solidFill>
                  <a:srgbClr val="FFFFFF"/>
                </a:solidFill>
              </a:rPr>
              <a:t>Policies have prose reviews,</a:t>
            </a:r>
          </a:p>
          <a:p xmlns:a="http://schemas.openxmlformats.org/drawingml/2006/main">
            <a:pPr algn="l">
              <a:defRPr sz="4350" b="1" i="0">
                <a:solidFill>
                  <a:srgbClr val="FFFFFF"/>
                </a:solidFill>
              </a:defRPr>
            </a:pPr>
            <a:r>
              <a:rPr sz="4350" b="1" i="0">
                <a:solidFill>
                  <a:srgbClr val="FFFFFF"/>
                </a:solidFill>
              </a:rPr>
              <a:t>but no unit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E05DB-DFC7-48CD-AA69-BD014956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D9E7EE"/>
                </a:solidFill>
              </a:defRPr>
            </a:pPr>
            <a:r>
              <a:rPr sz="1950" b="0" i="0">
                <a:solidFill>
                  <a:srgbClr val="D9E7EE"/>
                </a:solidFill>
              </a:rPr>
              <a:t>A prototype for turning session-confirmed travel &amp; expense intent into traceable scenarios and deterministic checks.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C69BB-B029-4D80-A540-B94A79F6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39052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174A5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D7F7F2"/>
                </a:solidFill>
              </a:defRPr>
            </a:pPr>
            <a:r>
              <a:rPr sz="975" b="1" i="0">
                <a:solidFill>
                  <a:srgbClr val="D7F7F2"/>
                </a:solidFill>
              </a:rPr>
              <a:t>SYNTHETIC PROTOTYPE · VALIDATION PENDING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4D032-5505-4E33-815D-F8084049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530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DE2D7"/>
                </a:solidFill>
              </a:defRPr>
            </a:pPr>
            <a:r>
              <a:rPr sz="1050" b="1" i="0">
                <a:solidFill>
                  <a:srgbClr val="7DE2D7"/>
                </a:solidFill>
              </a:rPr>
              <a:t>Narrow claim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0278E-D8CF-4A4B-BA11-F5C6CD37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76850"/>
            <a:ext cx="3009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Make ambiguity</a:t>
            </a:r>
          </a:p>
          <a:p xmlns:a="http://schemas.openxmlformats.org/drawingml/2006/main">
            <a:pPr algn="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executable — then test it.</a:t>
            </a:r>
          </a:p>
        </p:txBody>
      </p:sp>
    </p:spTree>
    <p:extLst>
      <p:ext uri="{BB962C8B-B14F-4D97-AF65-F5344CB8AC3E}">
        <p14:creationId xmlns:p14="http://schemas.microsoft.com/office/powerpoint/2010/main" val="19538587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E84126-91B2-40AE-8586-3AE9D70E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C7DA0-B63C-42B7-AE1A-9A405B0E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USER HYPOTHESIS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C08F2-836A-457E-9742-7ABEE288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627D8C"/>
                </a:solidFill>
              </a:defRPr>
            </a:pPr>
            <a:r>
              <a:rPr sz="1125" b="1" i="0">
                <a:solidFill>
                  <a:srgbClr val="627D8C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66F64-8ED5-445D-A43C-A67A42C4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8F31F-0F8B-4AD5-AAF7-984E0E4B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D8C"/>
                </a:solidFill>
              </a:defRPr>
            </a:pPr>
            <a:r>
              <a:rPr sz="825" b="1" i="0">
                <a:solidFill>
                  <a:srgbClr val="627D8C"/>
                </a:solidFill>
              </a:rPr>
              <a:t>POLICYFUZZ · REVIEWABLE DRAFT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82C7B-395B-4D36-84B7-88ECFD7C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A43"/>
                </a:solidFill>
              </a:defRPr>
            </a:pPr>
            <a:r>
              <a:rPr sz="3000" b="1" i="0">
                <a:solidFill>
                  <a:srgbClr val="102A43"/>
                </a:solidFill>
              </a:rPr>
              <a:t>One owner carries every edge case in their head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F34CF-49FB-4F32-87F3-9D785337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F766E"/>
                </a:solidFill>
              </a:defRPr>
            </a:pPr>
            <a:r>
              <a:rPr sz="1275" b="1" i="0">
                <a:solidFill>
                  <a:srgbClr val="0F766E"/>
                </a:solidFill>
              </a:rPr>
              <a:t>FINANCE / PEOPLE OPS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80B49-2DD8-48EF-9288-2EA74DCF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3381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02A43"/>
                </a:solidFill>
              </a:defRPr>
            </a:pPr>
            <a:r>
              <a:rPr sz="2775" b="1" i="0">
                <a:solidFill>
                  <a:srgbClr val="102A43"/>
                </a:solidFill>
              </a:rPr>
              <a:t>Policy owner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5DAA6-90EE-4043-9D4A-50FAC49D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27D8C"/>
                </a:solidFill>
              </a:defRPr>
            </a:pPr>
            <a:r>
              <a:rPr sz="1575" b="0" i="0">
                <a:solidFill>
                  <a:srgbClr val="627D8C"/>
                </a:solidFill>
              </a:rPr>
              <a:t>Maintains rules, fields exceptions, and explains decisions across many combinations of amount, category, timing, destination, and prior spend.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176F8-3EBA-4450-8409-5412BAA6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30289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7791F"/>
                </a:solidFill>
              </a:defRPr>
            </a:pPr>
            <a:r>
              <a:rPr sz="975" b="1" i="0">
                <a:solidFill>
                  <a:srgbClr val="B7791F"/>
                </a:solidFill>
              </a:rPr>
              <a:t>HYPOTHESIS — NOT USER 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E4A21-11F5-4B09-86E4-CE8188A0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619250"/>
            <a:ext cx="0" cy="396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B6B7E-38C4-4B04-BD92-60F9F15A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954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42C08-12E8-4EC8-A08F-44954B64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859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Thresholds hide boundary gaps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30ED82-16EC-4299-841B-FAD257DE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D8C"/>
                </a:solidFill>
              </a:defRPr>
            </a:pPr>
            <a:r>
              <a:rPr sz="1275" b="0" i="0">
                <a:solidFill>
                  <a:srgbClr val="627D8C"/>
                </a:solidFill>
              </a:rPr>
              <a:t>Manual review can miss equality cases and adjacent ranges.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721BEE-0B57-476E-9C7F-EDB5966E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28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9EE527-391B-4116-A1C6-40CF1396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194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Exceptions collide across clauses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9E0BE2-7C46-4360-A3DA-659E3C16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D8C"/>
                </a:solidFill>
              </a:defRPr>
            </a:pPr>
            <a:r>
              <a:rPr sz="1275" b="0" i="0">
                <a:solidFill>
                  <a:srgbClr val="627D8C"/>
                </a:solidFill>
              </a:rPr>
              <a:t>Priority and overrides may exist only in reviewers’ memory.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8C34B7-BDE3-419E-87A4-B40B31F7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624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EE628E-BCEB-40A3-9602-40101B57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529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Change review lacks a fixed regression 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420CE0-3F82-463B-85C9-90A25981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053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D8C"/>
                </a:solidFill>
              </a:defRPr>
            </a:pPr>
            <a:r>
              <a:rPr sz="1275" b="0" i="0">
                <a:solidFill>
                  <a:srgbClr val="627D8C"/>
                </a:solidFill>
              </a:rPr>
              <a:t>A wording fix can shift a different outcome without a visible trace.</a:t>
            </a:r>
          </a:p>
        </p:txBody>
      </p:sp>
    </p:spTree>
    <p:extLst>
      <p:ext uri="{BB962C8B-B14F-4D97-AF65-F5344CB8AC3E}">
        <p14:creationId xmlns:p14="http://schemas.microsoft.com/office/powerpoint/2010/main" val="6194121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3ABDB9-3C5C-48F8-914E-EFAF961C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F2E86-7D85-403E-8FB0-23557823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PRODUCT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163C0-74B2-4517-8D7A-72A99E5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627D8C"/>
                </a:solidFill>
              </a:defRPr>
            </a:pPr>
            <a:r>
              <a:rPr sz="1125" b="1" i="0">
                <a:solidFill>
                  <a:srgbClr val="627D8C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2AA67-98BE-4D55-9202-C19E25E9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760A3-B4A8-4747-98DF-771730E5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D8C"/>
                </a:solidFill>
              </a:defRPr>
            </a:pPr>
            <a:r>
              <a:rPr sz="825" b="1" i="0">
                <a:solidFill>
                  <a:srgbClr val="627D8C"/>
                </a:solidFill>
              </a:rPr>
              <a:t>POLICYFUZZ · REVIEWABLE DRAFT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FFC97-93B6-4AD4-8047-079AF656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A43"/>
                </a:solidFill>
              </a:defRPr>
            </a:pPr>
            <a:r>
              <a:rPr sz="3000" b="1" i="0">
                <a:solidFill>
                  <a:srgbClr val="102A43"/>
                </a:solidFill>
              </a:rPr>
              <a:t>The journey ends in a retest, not a summary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633B0-869F-4540-930C-45DD9DEF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05125"/>
            <a:ext cx="552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4CE36-BCC2-4CD3-81DC-7F99AFA3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05125"/>
            <a:ext cx="552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77333-D89C-4F10-9827-BCF9F0A1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05125"/>
            <a:ext cx="552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A8904-3675-4B32-9D89-6C8F282F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05125"/>
            <a:ext cx="552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C5997-F292-4F1F-A9A2-C16FD444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DC01C-BC6E-4922-BFCD-FBAC4281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6C9D7-39B5-4CDA-B760-1984FD6C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UPLOAD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F1D0F-76DD-43D3-A97A-1D114B15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1676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D8C"/>
                </a:solidFill>
              </a:defRPr>
            </a:pPr>
            <a:r>
              <a:rPr sz="1275" b="0" i="0">
                <a:solidFill>
                  <a:srgbClr val="627D8C"/>
                </a:solidFill>
              </a:rPr>
              <a:t>Synthetic or non-confidential 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A020E1-AF94-4AA7-AC1C-80CD5ED3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336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B661F-96C5-4936-B835-37DE3465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5614F9-ABEB-4A88-AC6C-EF6AB8EE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CONFIRM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310EF3-0679-405A-A83B-CC33D993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90900"/>
            <a:ext cx="1676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D8C"/>
                </a:solidFill>
              </a:defRPr>
            </a:pPr>
            <a:r>
              <a:rPr sz="1275" b="0" i="0">
                <a:solidFill>
                  <a:srgbClr val="627D8C"/>
                </a:solidFill>
              </a:rPr>
              <a:t>Cited rules and session intent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05FCAA-B0AC-4535-9178-71952331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336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DEFCDE-23C2-4762-8949-156F48BA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93BA99-50C5-401D-A2F0-8D0DCC94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003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FUZZ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AF1F8D-151A-4BF1-809B-6E6F8363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90900"/>
            <a:ext cx="1676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D8C"/>
                </a:solidFill>
              </a:defRPr>
            </a:pPr>
            <a:r>
              <a:rPr sz="1275" b="0" i="0">
                <a:solidFill>
                  <a:srgbClr val="627D8C"/>
                </a:solidFill>
              </a:rPr>
              <a:t>Boundaries and combinations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4EBF8D-AC53-41EC-A3E7-9BBF7D61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336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AD843E-2134-4200-8A0D-0406343D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342833-1FE7-40E0-A8F6-511231BE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REVISE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5A2286-7BD3-4A73-B9D0-0A62FBFF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1676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D8C"/>
                </a:solidFill>
              </a:defRPr>
            </a:pPr>
            <a:r>
              <a:rPr sz="1275" b="0" i="0">
                <a:solidFill>
                  <a:srgbClr val="627D8C"/>
                </a:solidFill>
              </a:rPr>
              <a:t>Structured diff for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979B49-36A9-4E7C-858D-22286870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336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2B4CE6-F82F-493A-A6D6-E7667521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D948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509ACB-E6CD-4E92-B43F-5C14FEFB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03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RETEST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B101BE-719D-4E4B-8CD6-AD8B7AEF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90900"/>
            <a:ext cx="1676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D8C"/>
                </a:solidFill>
              </a:defRPr>
            </a:pPr>
            <a:r>
              <a:rPr sz="1275" b="0" i="0">
                <a:solidFill>
                  <a:srgbClr val="627D8C"/>
                </a:solidFill>
              </a:rPr>
              <a:t>The identical frozen suite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9ACC57-93A7-4D16-B59B-94408173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104203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C6737F-02FF-40CC-93A5-A32A034F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766E"/>
                </a:solidFill>
              </a:defRPr>
            </a:pPr>
            <a:r>
              <a:rPr sz="1500" b="1" i="0">
                <a:solidFill>
                  <a:srgbClr val="0F766E"/>
                </a:solidFill>
              </a:rPr>
              <a:t>Why it differs from summarization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A27B74-FB7A-4B1C-830E-75E3D199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5775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Every finding should resolve to visible facts, a deterministic trace, and an exact source citation — then survive the same-suite comparison.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57B10A-4639-4A72-9B4C-5C11CEBE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72150"/>
            <a:ext cx="32766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DDF4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F766E"/>
                </a:solidFill>
              </a:defRPr>
            </a:pPr>
            <a:r>
              <a:rPr sz="975" b="1" i="0">
                <a:solidFill>
                  <a:srgbClr val="0F766E"/>
                </a:solidFill>
              </a:rPr>
              <a:t>LIVE / CACHED MODE STAYS VISIBLE</a:t>
            </a:r>
          </a:p>
        </p:txBody>
      </p:sp>
    </p:spTree>
    <p:extLst>
      <p:ext uri="{BB962C8B-B14F-4D97-AF65-F5344CB8AC3E}">
        <p14:creationId xmlns:p14="http://schemas.microsoft.com/office/powerpoint/2010/main" val="4473865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2B529C-3745-4A5E-8631-19B28AC8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DC123-8326-4DC7-AC93-C042412C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BOUNDED AGENT LOOP · CACHED REHEARSAL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D897A-8CEE-43A5-A15C-82F0AB7B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627D8C"/>
                </a:solidFill>
              </a:defRPr>
            </a:pPr>
            <a:r>
              <a:rPr sz="1125" b="1" i="0">
                <a:solidFill>
                  <a:srgbClr val="627D8C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E0A9B-6F2F-4325-BC48-D2DCBABE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51AB5-A163-497E-8D40-788BAC86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D8C"/>
                </a:solidFill>
              </a:defRPr>
            </a:pPr>
            <a:r>
              <a:rPr sz="825" b="1" i="0">
                <a:solidFill>
                  <a:srgbClr val="627D8C"/>
                </a:solidFill>
              </a:rPr>
              <a:t>POLICYFUZZ · REVIEWABLE DRAFT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71C04-27DD-4D22-AEBF-10A9625C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A43"/>
                </a:solidFill>
              </a:defRPr>
            </a:pPr>
            <a:r>
              <a:rPr sz="3000" b="1" i="0">
                <a:solidFill>
                  <a:srgbClr val="102A43"/>
                </a:solidFill>
              </a:rPr>
              <a:t>Coverage satisfied on the first bounded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EB52E-A8E1-4BEA-8D28-CFAFE6DB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7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ECCBA-E508-4AC4-9951-D9EECC43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16FA6D-FA7C-4BB7-8D50-F18D01C0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38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F766E"/>
                </a:solidFill>
              </a:defRPr>
            </a:pPr>
            <a:r>
              <a:rPr sz="1425" b="1" i="0">
                <a:solidFill>
                  <a:srgbClr val="0F766E"/>
                </a:solidFill>
              </a:rPr>
              <a:t>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A494B-182F-4A18-84C6-3FF30E09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0767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27D8C"/>
                </a:solidFill>
              </a:defRPr>
            </a:pPr>
            <a:r>
              <a:rPr sz="1200" b="0" i="0">
                <a:solidFill>
                  <a:srgbClr val="627D8C"/>
                </a:solidFill>
              </a:rPr>
              <a:t>Required targets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51392-47F8-4DAB-A02E-023B6272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051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41CDB-341B-4E6B-B49D-367B9C35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38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F766E"/>
                </a:solidFill>
              </a:defRPr>
            </a:pPr>
            <a:r>
              <a:rPr sz="1425" b="1" i="0">
                <a:solidFill>
                  <a:srgbClr val="0F766E"/>
                </a:solidFill>
              </a:rPr>
              <a:t>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B8EC3-E075-42B1-8D83-48F1B762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767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27D8C"/>
                </a:solidFill>
              </a:defRPr>
            </a:pPr>
            <a:r>
              <a:rPr sz="1200" b="0" i="0">
                <a:solidFill>
                  <a:srgbClr val="627D8C"/>
                </a:solidFill>
              </a:rPr>
              <a:t>Candidate scenarios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2E836-9556-4994-9894-2E51ABDE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051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EF53C-9EE8-4C95-B22A-4C873E83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38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F766E"/>
                </a:solidFill>
              </a:defRPr>
            </a:pPr>
            <a:r>
              <a:rPr sz="1425" b="1" i="0">
                <a:solidFill>
                  <a:srgbClr val="0F766E"/>
                </a:solidFill>
              </a:rPr>
              <a:t>OBSERVE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C19B1A-184C-4AE5-9504-742BF402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767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27D8C"/>
                </a:solidFill>
              </a:defRPr>
            </a:pPr>
            <a:r>
              <a:rPr sz="1200" b="0" i="0">
                <a:solidFill>
                  <a:srgbClr val="627D8C"/>
                </a:solidFill>
              </a:rPr>
              <a:t>Coverage gaps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92FA1D-A27C-4553-860F-59D311D7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EBC74B-7B44-4363-9AFA-EE43F29E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F766E"/>
                </a:solidFill>
              </a:defRPr>
            </a:pPr>
            <a:r>
              <a:rPr sz="1425" b="1" i="0">
                <a:solidFill>
                  <a:srgbClr val="0F766E"/>
                </a:solidFill>
              </a:rPr>
              <a:t>FREEZE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13CBCE-ECFC-44DE-9154-FEE8FAEE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767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27D8C"/>
                </a:solidFill>
              </a:defRPr>
            </a:pPr>
            <a:r>
              <a:rPr sz="1200" b="0" i="0">
                <a:solidFill>
                  <a:srgbClr val="627D8C"/>
                </a:solidFill>
              </a:rPr>
              <a:t>No adaptive call needed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81CF8E-D54F-47E1-9A82-C768DB2A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051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D2DD5D-6E87-4895-A33D-A366C191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385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RETEST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0B7E0A-A6DB-43CA-904F-5C656B17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767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27D8C"/>
                </a:solidFill>
              </a:defRPr>
            </a:pPr>
            <a:r>
              <a:rPr sz="1200" b="0" i="0">
                <a:solidFill>
                  <a:srgbClr val="627D8C"/>
                </a:solidFill>
              </a:rPr>
              <a:t>Freeze + execute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311140-B7C9-4BB5-A230-F6A09FF0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10150"/>
            <a:ext cx="39433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4D790D-2DC5-4D64-9FEA-830A53F5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911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791F"/>
                </a:solidFill>
              </a:defRPr>
            </a:pPr>
            <a:r>
              <a:rPr sz="1125" b="1" i="0">
                <a:solidFill>
                  <a:srgbClr val="B7791F"/>
                </a:solidFill>
              </a:rPr>
              <a:t>Observed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76802A-1CC0-4192-B70B-E19A30DB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2445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43B53"/>
                </a:solidFill>
              </a:defRPr>
            </a:pPr>
            <a:r>
              <a:rPr sz="1275" b="1" i="0">
                <a:solidFill>
                  <a:srgbClr val="243B53"/>
                </a:solidFill>
              </a:rPr>
              <a:t>0 targeted cycles · minimum coverage already satisfied.</a:t>
            </a:r>
          </a:p>
        </p:txBody>
      </p:sp>
    </p:spTree>
    <p:extLst>
      <p:ext uri="{BB962C8B-B14F-4D97-AF65-F5344CB8AC3E}">
        <p14:creationId xmlns:p14="http://schemas.microsoft.com/office/powerpoint/2010/main" val="16305205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F490EB-63AB-45E9-BED1-9873607A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C4590-8A59-4280-B32A-73C6F50E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CURRENT ARCHITECTURE · CACHED REHEARSAL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A8D18-3098-48A3-A69D-92D65899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627D8C"/>
                </a:solidFill>
              </a:defRPr>
            </a:pPr>
            <a:r>
              <a:rPr sz="1125" b="1" i="0">
                <a:solidFill>
                  <a:srgbClr val="627D8C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5F0C5-B96F-4C28-9849-719B8845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1B8E4-D6E0-4931-B415-107D7C01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D8C"/>
                </a:solidFill>
              </a:defRPr>
            </a:pPr>
            <a:r>
              <a:rPr sz="825" b="1" i="0">
                <a:solidFill>
                  <a:srgbClr val="627D8C"/>
                </a:solidFill>
              </a:rPr>
              <a:t>POLICYFUZZ · REVIEWABLE DRAFT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DA267-6400-4CB3-BF4E-60A19247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A43"/>
                </a:solidFill>
              </a:defRPr>
            </a:pPr>
            <a:r>
              <a:rPr sz="3000" b="1" i="0">
                <a:solidFill>
                  <a:srgbClr val="102A43"/>
                </a:solidFill>
              </a:rPr>
              <a:t>Models propose; deterministic Python decides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581EF-E4AF-4C58-B01F-B5CAF2D0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71800"/>
            <a:ext cx="857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DA7A6-901F-4667-A2C5-9162EE91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71800"/>
            <a:ext cx="857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9FC36-3B30-492B-868C-BE80F0CA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90700"/>
            <a:ext cx="0" cy="3771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D9488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6AB68-12A8-4CCB-9562-1199F80B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619750"/>
            <a:ext cx="99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F766E"/>
                </a:solidFill>
              </a:defRPr>
            </a:pPr>
            <a:r>
              <a:rPr sz="900" b="1" i="0">
                <a:solidFill>
                  <a:srgbClr val="0F766E"/>
                </a:solidFill>
              </a:rPr>
              <a:t>TRUST</a:t>
            </a:r>
          </a:p>
          <a:p xmlns:a="http://schemas.openxmlformats.org/drawingml/2006/main">
            <a:pPr algn="ctr">
              <a:defRPr sz="900" b="1" i="0">
                <a:solidFill>
                  <a:srgbClr val="0F766E"/>
                </a:solidFill>
              </a:defRPr>
            </a:pPr>
            <a:r>
              <a:rPr sz="900" b="1" i="0">
                <a:solidFill>
                  <a:srgbClr val="0F766E"/>
                </a:solidFill>
              </a:rPr>
              <a:t>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FB505-D2E4-449C-9829-025A71D6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333750" cy="3219450"/>
          </a:xfrm>
          <a:prstGeom xmlns:a="http://schemas.openxmlformats.org/drawingml/2006/main" prst="roundRect">
            <a:avLst>
              <a:gd name="adj" fmla="val 47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0686D6-8C22-4065-BB19-D84E844D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283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A43"/>
                </a:solidFill>
              </a:defRPr>
            </a:pPr>
            <a:r>
              <a:rPr sz="2025" b="1" i="0">
                <a:solidFill>
                  <a:srgbClr val="102A43"/>
                </a:solidFill>
              </a:rPr>
              <a:t>LLM-backed stages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6AC28-6C49-434E-84FB-AE3C2804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14668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DDF4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F766E"/>
                </a:solidFill>
              </a:defRPr>
            </a:pPr>
            <a:r>
              <a:rPr sz="975" b="1" i="0">
                <a:solidFill>
                  <a:srgbClr val="0F766E"/>
                </a:solidFill>
              </a:rPr>
              <a:t>PROPOSAL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3F367-8BEA-48AA-A3B1-0C327BC2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27241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27D8C"/>
                </a:solidFill>
              </a:defRPr>
            </a:pPr>
            <a:r>
              <a:rPr sz="1500" b="0" i="0">
                <a:solidFill>
                  <a:srgbClr val="627D8C"/>
                </a:solidFill>
              </a:rPr>
              <a:t>Interpret clauses</a:t>
            </a:r>
          </a:p>
          <a:p xmlns:a="http://schemas.openxmlformats.org/drawingml/2006/main">
            <a:pPr algn="l">
              <a:defRPr sz="1500" b="0" i="0">
                <a:solidFill>
                  <a:srgbClr val="627D8C"/>
                </a:solidFill>
              </a:defRPr>
            </a:pPr>
            <a:r>
              <a:rPr sz="1500" b="0" i="0">
                <a:solidFill>
                  <a:srgbClr val="627D8C"/>
                </a:solidFill>
              </a:rPr>
              <a:t>Suggest invariants</a:t>
            </a:r>
          </a:p>
          <a:p xmlns:a="http://schemas.openxmlformats.org/drawingml/2006/main">
            <a:pPr algn="l">
              <a:defRPr sz="1500" b="0" i="0">
                <a:solidFill>
                  <a:srgbClr val="627D8C"/>
                </a:solidFill>
              </a:defRPr>
            </a:pPr>
            <a:r>
              <a:rPr sz="1500" b="0" i="0">
                <a:solidFill>
                  <a:srgbClr val="627D8C"/>
                </a:solidFill>
              </a:rPr>
              <a:t>Explore scenario facts</a:t>
            </a:r>
          </a:p>
          <a:p xmlns:a="http://schemas.openxmlformats.org/drawingml/2006/main">
            <a:pPr algn="l">
              <a:defRPr sz="1500" b="0" i="0">
                <a:solidFill>
                  <a:srgbClr val="627D8C"/>
                </a:solidFill>
              </a:defRPr>
            </a:pPr>
            <a:r>
              <a:rPr sz="1500" b="0" i="0">
                <a:solidFill>
                  <a:srgbClr val="627D8C"/>
                </a:solidFill>
              </a:rPr>
              <a:t>Propose a minimal revision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9F6BB-D089-4593-869D-7F71CFC8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6670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5D4A98-2B49-4552-9053-FAA37F58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F766E"/>
                </a:solidFill>
              </a:defRPr>
            </a:pPr>
            <a:r>
              <a:rPr sz="1875" b="1" i="0">
                <a:solidFill>
                  <a:srgbClr val="0F766E"/>
                </a:solidFill>
              </a:rPr>
              <a:t>Public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B54E3-DEE6-43AE-B9F7-0FB85990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1981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RunView</a:t>
            </a:r>
          </a:p>
          <a:p xmlns:a="http://schemas.openxmlformats.org/drawingml/2006/main">
            <a:pPr algn="ctr"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commands</a:t>
            </a:r>
          </a:p>
          <a:p xmlns:a="http://schemas.openxmlformats.org/drawingml/2006/main">
            <a:pPr algn="ctr"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artifacts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C36612-6C56-43D4-98C6-E9A16450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276600" cy="3600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7671AE-CCF7-4DD0-A314-75CFB6B7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145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Deterministic Python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179432-A939-4C26-8651-AB6C46F7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86050"/>
            <a:ext cx="15811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174A5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D7F7F2"/>
                </a:solidFill>
              </a:defRPr>
            </a:pPr>
            <a:r>
              <a:rPr sz="975" b="1" i="0">
                <a:solidFill>
                  <a:srgbClr val="D7F7F2"/>
                </a:solidFill>
              </a:rPr>
              <a:t>AUTHORITATIVE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3EFA82-38F9-4992-B89F-0CDC00E5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76600"/>
            <a:ext cx="26860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9E7EE"/>
                </a:solidFill>
              </a:defRPr>
            </a:pPr>
            <a:r>
              <a:rPr sz="1500" b="0" i="0">
                <a:solidFill>
                  <a:srgbClr val="D9E7EE"/>
                </a:solidFill>
              </a:rPr>
              <a:t>Validate schemas + citations</a:t>
            </a:r>
          </a:p>
          <a:p xmlns:a="http://schemas.openxmlformats.org/drawingml/2006/main">
            <a:pPr algn="l">
              <a:defRPr sz="1500" b="0" i="0">
                <a:solidFill>
                  <a:srgbClr val="D9E7EE"/>
                </a:solidFill>
              </a:defRPr>
            </a:pPr>
            <a:r>
              <a:rPr sz="1500" b="0" i="0">
                <a:solidFill>
                  <a:srgbClr val="D9E7EE"/>
                </a:solidFill>
              </a:rPr>
              <a:t>Resolve effects + traces</a:t>
            </a:r>
          </a:p>
          <a:p xmlns:a="http://schemas.openxmlformats.org/drawingml/2006/main">
            <a:pPr algn="l">
              <a:defRPr sz="1500" b="0" i="0">
                <a:solidFill>
                  <a:srgbClr val="D9E7EE"/>
                </a:solidFill>
              </a:defRPr>
            </a:pPr>
            <a:r>
              <a:rPr sz="1500" b="0" i="0">
                <a:solidFill>
                  <a:srgbClr val="D9E7EE"/>
                </a:solidFill>
              </a:rPr>
              <a:t>Freeze + hash the suite</a:t>
            </a:r>
          </a:p>
          <a:p xmlns:a="http://schemas.openxmlformats.org/drawingml/2006/main">
            <a:pPr algn="l">
              <a:defRPr sz="1500" b="0" i="0">
                <a:solidFill>
                  <a:srgbClr val="D9E7EE"/>
                </a:solidFill>
              </a:defRPr>
            </a:pPr>
            <a:r>
              <a:rPr sz="1500" b="0" i="0">
                <a:solidFill>
                  <a:srgbClr val="D9E7EE"/>
                </a:solidFill>
              </a:rPr>
              <a:t>Compute metrics</a:t>
            </a:r>
          </a:p>
          <a:p xmlns:a="http://schemas.openxmlformats.org/drawingml/2006/main">
            <a:pPr algn="l">
              <a:defRPr sz="1500" b="0" i="0">
                <a:solidFill>
                  <a:srgbClr val="D9E7EE"/>
                </a:solidFill>
              </a:defRPr>
            </a:pPr>
            <a:r>
              <a:rPr sz="1500" b="0" i="0">
                <a:solidFill>
                  <a:srgbClr val="D9E7EE"/>
                </a:solidFill>
              </a:rPr>
              <a:t>Gate patch acceptance</a:t>
            </a:r>
          </a:p>
        </p:txBody>
      </p:sp>
    </p:spTree>
    <p:extLst>
      <p:ext uri="{BB962C8B-B14F-4D97-AF65-F5344CB8AC3E}">
        <p14:creationId xmlns:p14="http://schemas.microsoft.com/office/powerpoint/2010/main" val="20746467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9AD7E9-E8C8-48DD-B755-83581749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1B212-48E2-4F63-9B9A-700B9CA1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CURRENT CACHED FINDINGS · SYNTHETIC REHEARSAL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BE2DE-AAB2-4551-8657-3C7F4B40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627D8C"/>
                </a:solidFill>
              </a:defRPr>
            </a:pPr>
            <a:r>
              <a:rPr sz="1125" b="1" i="0">
                <a:solidFill>
                  <a:srgbClr val="627D8C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59209-7471-4CC1-99E8-8CCA5480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B4ECE-498A-4334-BE73-5FD19E00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D8C"/>
                </a:solidFill>
              </a:defRPr>
            </a:pPr>
            <a:r>
              <a:rPr sz="825" b="1" i="0">
                <a:solidFill>
                  <a:srgbClr val="627D8C"/>
                </a:solidFill>
              </a:rPr>
              <a:t>POLICYFUZZ · REVIEWABLE DRAFT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9A878-4666-4963-8003-12FA6406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A43"/>
                </a:solidFill>
              </a:defRPr>
            </a:pPr>
            <a:r>
              <a:rPr sz="3000" b="1" i="0">
                <a:solidFill>
                  <a:srgbClr val="102A43"/>
                </a:solidFill>
              </a:rPr>
              <a:t>Three deterministic findings make ambiguity executable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7F4FF-3233-4FF2-A1DF-CB0AECC8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042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84D311-DDD2-442E-AD11-BD4B2A29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F766E"/>
                </a:solidFill>
              </a:defRPr>
            </a:pPr>
            <a:r>
              <a:rPr sz="1275" b="1" i="0">
                <a:solidFill>
                  <a:srgbClr val="0F766E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2B703-95FB-477C-9186-CC67A3FE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145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RECEIPT REQUIREMENT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BEC3D-06C3-46D3-AAB0-4CF298C4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71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D8C"/>
                </a:solidFill>
              </a:defRPr>
            </a:pPr>
            <a:r>
              <a:rPr sz="1275" b="0" i="0">
                <a:solidFill>
                  <a:srgbClr val="627D8C"/>
                </a:solidFill>
              </a:rPr>
              <a:t>Deterministic baseline finding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03BA4-844C-47F4-9D8F-4F2DB40C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716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74D4D"/>
                </a:solidFill>
              </a:defRPr>
            </a:pPr>
            <a:r>
              <a:rPr sz="1500" b="1" i="0">
                <a:solidFill>
                  <a:srgbClr val="B74D4D"/>
                </a:solidFill>
              </a:rPr>
              <a:t>Visible witness + cited 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A5F9D-2FCD-490F-976B-DD709E65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288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D8C"/>
                </a:solidFill>
              </a:defRPr>
            </a:pPr>
            <a:r>
              <a:rPr sz="1200" b="0" i="0">
                <a:solidFill>
                  <a:srgbClr val="627D8C"/>
                </a:solidFill>
              </a:rPr>
              <a:t>Accepted by authored demo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CAC57-CA71-49D0-8F9E-CBE12809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24955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7791F"/>
                </a:solidFill>
              </a:defRPr>
            </a:pPr>
            <a:r>
              <a:rPr sz="975" b="1" i="0">
                <a:solidFill>
                  <a:srgbClr val="B7791F"/>
                </a:solidFill>
              </a:rPr>
              <a:t>FROZEN CAPTURE PENDING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C0F55-B6E2-484E-9824-7D1B5C51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1042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9E27A4-A296-4790-B68B-C891E3A0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F766E"/>
                </a:solidFill>
              </a:defRPr>
            </a:pPr>
            <a:r>
              <a:rPr sz="1275" b="1" i="0">
                <a:solidFill>
                  <a:srgbClr val="0F766E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68EF74-774C-457E-917D-90784852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APPROVAL REQUIREMENT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F7CD43-592A-4C02-BFC5-CF4ABBF2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D8C"/>
                </a:solidFill>
              </a:defRPr>
            </a:pPr>
            <a:r>
              <a:rPr sz="1275" b="0" i="0">
                <a:solidFill>
                  <a:srgbClr val="627D8C"/>
                </a:solidFill>
              </a:rPr>
              <a:t>Deterministic baseline finding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D35D09-D66B-4B10-8560-DFF49134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289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766E"/>
                </a:solidFill>
              </a:defRPr>
            </a:pPr>
            <a:r>
              <a:rPr sz="1500" b="1" i="0">
                <a:solidFill>
                  <a:srgbClr val="0F766E"/>
                </a:solidFill>
              </a:rPr>
              <a:t>Visible witness + cited rules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DAAE61-07F4-42A0-B889-93FF7EBF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861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D8C"/>
                </a:solidFill>
              </a:defRPr>
            </a:pPr>
            <a:r>
              <a:rPr sz="1200" b="0" i="0">
                <a:solidFill>
                  <a:srgbClr val="627D8C"/>
                </a:solidFill>
              </a:rPr>
              <a:t>Accepted by authored demo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83C2C4-B7D2-4AB4-A524-1DC54260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38500"/>
            <a:ext cx="24955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7791F"/>
                </a:solidFill>
              </a:defRPr>
            </a:pPr>
            <a:r>
              <a:rPr sz="975" b="1" i="0">
                <a:solidFill>
                  <a:srgbClr val="B7791F"/>
                </a:solidFill>
              </a:rPr>
              <a:t>FROZEN CAPTURE PENDING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7B43CF-8B46-4EBC-8788-BCC47955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1042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CD7C5C-30A9-4C2D-A82D-435520E6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F766E"/>
                </a:solidFill>
              </a:defRPr>
            </a:pPr>
            <a:r>
              <a:rPr sz="1275" b="1" i="0">
                <a:solidFill>
                  <a:srgbClr val="0F766E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03B438-9976-4A2A-A52A-3B92D6A1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DAILY CATEGORY CAP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3D6ECD-B34D-4906-B25D-88D67216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86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D8C"/>
                </a:solidFill>
              </a:defRPr>
            </a:pPr>
            <a:r>
              <a:rPr sz="1275" b="0" i="0">
                <a:solidFill>
                  <a:srgbClr val="627D8C"/>
                </a:solidFill>
              </a:rPr>
              <a:t>Deterministic baseline finding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C3F1ED-88E5-4E30-A8DF-384A4312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862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766E"/>
                </a:solidFill>
              </a:defRPr>
            </a:pPr>
            <a:r>
              <a:rPr sz="1500" b="1" i="0">
                <a:solidFill>
                  <a:srgbClr val="0F766E"/>
                </a:solidFill>
              </a:rPr>
              <a:t>Visible witness + cited intent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622E9B-2E44-4D8A-8231-53CD214A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434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D8C"/>
                </a:solidFill>
              </a:defRPr>
            </a:pPr>
            <a:r>
              <a:rPr sz="1200" b="0" i="0">
                <a:solidFill>
                  <a:srgbClr val="627D8C"/>
                </a:solidFill>
              </a:rPr>
              <a:t>Accepted by authored demo decision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CF633F-C68A-463F-8EA4-5B00DC32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95800"/>
            <a:ext cx="24955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7791F"/>
                </a:solidFill>
              </a:defRPr>
            </a:pPr>
            <a:r>
              <a:rPr sz="975" b="1" i="0">
                <a:solidFill>
                  <a:srgbClr val="B7791F"/>
                </a:solidFill>
              </a:rPr>
              <a:t>FROZEN CAPTURE PENDING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CFA060-C9C7-410F-8D45-1961E0FD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7791F"/>
                </a:solidFill>
              </a:defRPr>
            </a:pPr>
            <a:r>
              <a:rPr sz="1050" b="1" i="0">
                <a:solidFill>
                  <a:srgbClr val="B7791F"/>
                </a:solidFill>
              </a:rPr>
              <a:t>CACHED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9F1369-3019-437F-87DA-37B647E0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816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43B53"/>
                </a:solidFill>
              </a:defRPr>
            </a:pPr>
            <a:r>
              <a:rPr sz="1275" b="0" i="0">
                <a:solidFill>
                  <a:srgbClr val="243B53"/>
                </a:solidFill>
              </a:rPr>
              <a:t>Current record: 3 baseline findings. Final witnesses, traces, and citations still require the frozen browser capture.</a:t>
            </a:r>
          </a:p>
        </p:txBody>
      </p:sp>
    </p:spTree>
    <p:extLst>
      <p:ext uri="{BB962C8B-B14F-4D97-AF65-F5344CB8AC3E}">
        <p14:creationId xmlns:p14="http://schemas.microsoft.com/office/powerpoint/2010/main" val="3147269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69055C-C8B0-48D5-A7F9-225BAA6C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52208-59D1-474B-95AC-1AFCC0E7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MEASURED CACHED REHEARSAL · SYNTHETIC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B7D38-7307-4D26-9354-87272629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627D8C"/>
                </a:solidFill>
              </a:defRPr>
            </a:pPr>
            <a:r>
              <a:rPr sz="1125" b="1" i="0">
                <a:solidFill>
                  <a:srgbClr val="627D8C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1188C-A127-44AA-972B-FD42CCD0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DFF57-A320-461F-85F2-D9200AA8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D8C"/>
                </a:solidFill>
              </a:defRPr>
            </a:pPr>
            <a:r>
              <a:rPr sz="825" b="1" i="0">
                <a:solidFill>
                  <a:srgbClr val="627D8C"/>
                </a:solidFill>
              </a:rPr>
              <a:t>POLICYFUZZ · REVIEWABLE DRAFT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EEAF2-858A-4E6D-B3BB-08A83439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A43"/>
                </a:solidFill>
              </a:defRPr>
            </a:pPr>
            <a:r>
              <a:rPr sz="3000" b="1" i="0">
                <a:solidFill>
                  <a:srgbClr val="102A43"/>
                </a:solidFill>
              </a:rPr>
              <a:t>3 findings become 0; all seven gates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4148C-A8F1-4DF3-A065-898E53D9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30289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7791F"/>
                </a:solidFill>
              </a:defRPr>
            </a:pPr>
            <a:r>
              <a:rPr sz="975" b="1" i="0">
                <a:solidFill>
                  <a:srgbClr val="B7791F"/>
                </a:solidFill>
              </a:rPr>
              <a:t>NOT FROZEN · NOT BLIND-ELIGIBLE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A20BC-EB8B-401B-8E70-6D3BB94B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3219450" cy="2876550"/>
          </a:xfrm>
          <a:prstGeom xmlns:a="http://schemas.openxmlformats.org/drawingml/2006/main" prst="roundRect">
            <a:avLst>
              <a:gd name="adj" fmla="val 4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CEA89-A260-4EB9-B9E0-FC22D0B2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BEFORE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0A5D2-FD34-46F4-A8FB-72A3024B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3 findings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CA057-B5EA-45A7-B1A1-407A4A45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2781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D8C"/>
                </a:solidFill>
              </a:defRPr>
            </a:pPr>
            <a:r>
              <a:rPr sz="1275" b="0" i="0">
                <a:solidFill>
                  <a:srgbClr val="627D8C"/>
                </a:solidFill>
              </a:rPr>
              <a:t>10 scenarios</a:t>
            </a:r>
          </a:p>
          <a:p xmlns:a="http://schemas.openxmlformats.org/drawingml/2006/main">
            <a:pPr algn="l">
              <a:defRPr sz="1275" b="0" i="0">
                <a:solidFill>
                  <a:srgbClr val="627D8C"/>
                </a:solidFill>
              </a:defRPr>
            </a:pPr>
            <a:r>
              <a:rPr sz="1275" b="0" i="0">
                <a:solidFill>
                  <a:srgbClr val="627D8C"/>
                </a:solidFill>
              </a:rPr>
              <a:t>12 inconclusive assertions</a:t>
            </a:r>
          </a:p>
          <a:p xmlns:a="http://schemas.openxmlformats.org/drawingml/2006/main">
            <a:pPr algn="l">
              <a:defRPr sz="1275" b="0" i="0">
                <a:solidFill>
                  <a:srgbClr val="627D8C"/>
                </a:solidFill>
              </a:defRPr>
            </a:pPr>
            <a:r>
              <a:rPr sz="1275" b="0" i="0">
                <a:solidFill>
                  <a:srgbClr val="627D8C"/>
                </a:solidFill>
              </a:rPr>
              <a:t>11 gaps · 1 conflict</a:t>
            </a:r>
          </a:p>
          <a:p xmlns:a="http://schemas.openxmlformats.org/drawingml/2006/main">
            <a:pPr algn="l">
              <a:defRPr sz="1275" b="0" i="0">
                <a:solidFill>
                  <a:srgbClr val="627D8C"/>
                </a:solidFill>
              </a:defRPr>
            </a:pPr>
            <a:r>
              <a:rPr sz="1275" b="0" i="0">
                <a:solidFill>
                  <a:srgbClr val="627D8C"/>
                </a:solidFill>
              </a:rPr>
              <a:t>Minimum coverage satisfied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9A75B9-3FF4-41DE-B9C1-55105F94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33600"/>
            <a:ext cx="3219450" cy="2876550"/>
          </a:xfrm>
          <a:prstGeom xmlns:a="http://schemas.openxmlformats.org/drawingml/2006/main" prst="roundRect">
            <a:avLst>
              <a:gd name="adj" fmla="val 4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2D82E-A140-4F8F-ABF9-A6E4D789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766E"/>
                </a:solidFill>
              </a:defRPr>
            </a:pPr>
            <a:r>
              <a:rPr sz="1200" b="1" i="0">
                <a:solidFill>
                  <a:srgbClr val="0F766E"/>
                </a:solidFill>
              </a:rPr>
              <a:t>AFTER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9AD2F-B3B1-4819-89DE-F071A6BA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0 findings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FDECEA-C63D-4B2F-94FE-EA544382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2781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D8C"/>
                </a:solidFill>
              </a:defRPr>
            </a:pPr>
            <a:r>
              <a:rPr sz="1275" b="0" i="0">
                <a:solidFill>
                  <a:srgbClr val="627D8C"/>
                </a:solidFill>
              </a:rPr>
              <a:t>Same frozen suite</a:t>
            </a:r>
          </a:p>
          <a:p xmlns:a="http://schemas.openxmlformats.org/drawingml/2006/main">
            <a:pPr algn="l">
              <a:defRPr sz="1275" b="0" i="0">
                <a:solidFill>
                  <a:srgbClr val="627D8C"/>
                </a:solidFill>
              </a:defRPr>
            </a:pPr>
            <a:r>
              <a:rPr sz="1275" b="0" i="0">
                <a:solidFill>
                  <a:srgbClr val="627D8C"/>
                </a:solidFill>
              </a:rPr>
              <a:t>12 passing assertions</a:t>
            </a:r>
          </a:p>
          <a:p xmlns:a="http://schemas.openxmlformats.org/drawingml/2006/main">
            <a:pPr algn="l">
              <a:defRPr sz="1275" b="0" i="0">
                <a:solidFill>
                  <a:srgbClr val="627D8C"/>
                </a:solidFill>
              </a:defRPr>
            </a:pPr>
            <a:r>
              <a:rPr sz="1275" b="0" i="0">
                <a:solidFill>
                  <a:srgbClr val="627D8C"/>
                </a:solidFill>
              </a:rPr>
              <a:t>0 gaps · 0 conflicts</a:t>
            </a:r>
          </a:p>
          <a:p xmlns:a="http://schemas.openxmlformats.org/drawingml/2006/main">
            <a:pPr algn="l">
              <a:defRPr sz="1275" b="0" i="0">
                <a:solidFill>
                  <a:srgbClr val="627D8C"/>
                </a:solidFill>
              </a:defRPr>
            </a:pPr>
            <a:r>
              <a:rPr sz="1275" b="0" i="0">
                <a:solidFill>
                  <a:srgbClr val="627D8C"/>
                </a:solidFill>
              </a:rPr>
              <a:t>7 / 7 gates true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10DCC-5020-45A4-B40B-37B8903F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33600"/>
            <a:ext cx="3219450" cy="2876550"/>
          </a:xfrm>
          <a:prstGeom xmlns:a="http://schemas.openxmlformats.org/drawingml/2006/main" prst="roundRect">
            <a:avLst>
              <a:gd name="adj" fmla="val 463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1430">
            <a:solidFill>
              <a:srgbClr val="E7C9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35CB1-8010-4393-A9E3-937861D5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622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7791F"/>
                </a:solidFill>
              </a:defRPr>
            </a:pPr>
            <a:r>
              <a:rPr sz="1200" b="1" i="0">
                <a:solidFill>
                  <a:srgbClr val="B7791F"/>
                </a:solidFill>
              </a:rPr>
              <a:t>PROVENANCE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15120B-1783-4CC6-A90C-063EDDBD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Cached rehearsal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C9F080-0EBA-494F-97AE-1829FB5A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62350"/>
            <a:ext cx="27813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D8C"/>
                </a:solidFill>
              </a:defRPr>
            </a:pPr>
            <a:r>
              <a:rPr sz="1275" b="0" i="0">
                <a:solidFill>
                  <a:srgbClr val="627D8C"/>
                </a:solidFill>
              </a:rPr>
              <a:t>4 scripted model responses</a:t>
            </a:r>
          </a:p>
          <a:p xmlns:a="http://schemas.openxmlformats.org/drawingml/2006/main">
            <a:pPr algn="l">
              <a:defRPr sz="1275" b="0" i="0">
                <a:solidFill>
                  <a:srgbClr val="627D8C"/>
                </a:solidFill>
              </a:defRPr>
            </a:pPr>
            <a:r>
              <a:rPr sz="1275" b="0" i="0">
                <a:solidFill>
                  <a:srgbClr val="627D8C"/>
                </a:solidFill>
              </a:rPr>
              <a:t>0 actual provider calls</a:t>
            </a:r>
          </a:p>
          <a:p xmlns:a="http://schemas.openxmlformats.org/drawingml/2006/main">
            <a:pPr algn="l">
              <a:defRPr sz="1275" b="0" i="0">
                <a:solidFill>
                  <a:srgbClr val="627D8C"/>
                </a:solidFill>
              </a:defRPr>
            </a:pPr>
            <a:r>
              <a:rPr sz="1275" b="0" i="0">
                <a:solidFill>
                  <a:srgbClr val="627D8C"/>
                </a:solidFill>
              </a:rPr>
              <a:t>Synthetic data</a:t>
            </a:r>
          </a:p>
          <a:p xmlns:a="http://schemas.openxmlformats.org/drawingml/2006/main">
            <a:pPr algn="l">
              <a:defRPr sz="1275" b="0" i="0">
                <a:solidFill>
                  <a:srgbClr val="627D8C"/>
                </a:solidFill>
              </a:defRPr>
            </a:pPr>
            <a:r>
              <a:rPr sz="1275" b="0" i="0">
                <a:solidFill>
                  <a:srgbClr val="627D8C"/>
                </a:solidFill>
              </a:rPr>
              <a:t>Blind-scoring-ineligible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D98CA5-BD98-4426-8D95-D6B0E4E3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27D8C"/>
                </a:solidFill>
              </a:defRPr>
            </a:pPr>
            <a:r>
              <a:rPr sz="1125" b="1" i="0">
                <a:solidFill>
                  <a:srgbClr val="627D8C"/>
                </a:solidFill>
              </a:rPr>
              <a:t>Final chain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AC8C7B-8AA1-4EC2-AB9F-947937B5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34000"/>
            <a:ext cx="901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43B53"/>
                </a:solidFill>
              </a:defRPr>
            </a:pPr>
            <a:r>
              <a:rPr sz="1350" b="1" i="0">
                <a:solidFill>
                  <a:srgbClr val="243B53"/>
                </a:solidFill>
              </a:rPr>
              <a:t>Gate B  →  demo-core-v1  →  6-hour freeze  →  browser capture  →  two human reviews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2DB7D9-0691-445A-B782-9B707727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772150"/>
            <a:ext cx="893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766E"/>
                </a:solidFill>
              </a:defRPr>
            </a:pPr>
            <a:r>
              <a:rPr sz="1200" b="0" i="0">
                <a:solidFill>
                  <a:srgbClr val="0F766E"/>
                </a:solidFill>
              </a:rPr>
              <a:t>Until that chain completes, these numbers remain rehearsal evidence — not headline blind results.</a:t>
            </a:r>
          </a:p>
        </p:txBody>
      </p:sp>
    </p:spTree>
    <p:extLst>
      <p:ext uri="{BB962C8B-B14F-4D97-AF65-F5344CB8AC3E}">
        <p14:creationId xmlns:p14="http://schemas.microsoft.com/office/powerpoint/2010/main" val="9745647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3EFF88-1254-4EAF-A490-3DFDAB7B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E1ED0-95FB-4A43-817C-18A51F4C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IMPACT HYPOTHESIS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5B3B9-920B-4FE0-A11F-37160743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627D8C"/>
                </a:solidFill>
              </a:defRPr>
            </a:pPr>
            <a:r>
              <a:rPr sz="1125" b="1" i="0">
                <a:solidFill>
                  <a:srgbClr val="627D8C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7B0E0-7867-4350-A5DA-0641EA50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15C52-137E-4BE4-B050-CDB32807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7D8C"/>
                </a:solidFill>
              </a:defRPr>
            </a:pPr>
            <a:r>
              <a:rPr sz="825" b="1" i="0">
                <a:solidFill>
                  <a:srgbClr val="627D8C"/>
                </a:solidFill>
              </a:rPr>
              <a:t>POLICYFUZZ · REVIEWABLE DRAFT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47A34-8F12-4F27-9E56-74672C76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2A43"/>
                </a:solidFill>
              </a:defRPr>
            </a:pPr>
            <a:r>
              <a:rPr sz="3000" b="1" i="0">
                <a:solidFill>
                  <a:srgbClr val="102A43"/>
                </a:solidFill>
              </a:rPr>
              <a:t>The impact hypothesis is better review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10F07-755B-42EB-9DDA-08DD7B48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27D8C"/>
                </a:solidFill>
              </a:defRPr>
            </a:pPr>
            <a:r>
              <a:rPr sz="1125" b="1" i="0">
                <a:solidFill>
                  <a:srgbClr val="627D8C"/>
                </a:solidFill>
              </a:rPr>
              <a:t>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EA2B9-622E-41B8-8E8D-E5589528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4286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2A43"/>
                </a:solidFill>
              </a:defRPr>
            </a:pPr>
            <a:r>
              <a:rPr sz="2100" b="1" i="0">
                <a:solidFill>
                  <a:srgbClr val="102A43"/>
                </a:solidFill>
              </a:rPr>
              <a:t>Policy review relies on memory, spot checks, and examples that change between reviewers.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19EE8-5FFB-4308-8241-8FFD6BE2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764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08E99-6BDC-4FFE-9091-760E2DD8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526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766E"/>
                </a:solidFill>
              </a:defRPr>
            </a:pPr>
            <a:r>
              <a:rPr sz="1125" b="1" i="0">
                <a:solidFill>
                  <a:srgbClr val="0F766E"/>
                </a:solidFill>
              </a:rPr>
              <a:t>HYPOTHESIS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77835-9645-4C79-8AF7-ED497D2C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907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8B461-2341-4D36-8143-4B80F11A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812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Broader review coverage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631AF2-9FC2-4FA5-A6AB-0274AC05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336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D8C"/>
                </a:solidFill>
              </a:defRPr>
            </a:pPr>
            <a:r>
              <a:rPr sz="1275" b="0" i="0">
                <a:solidFill>
                  <a:srgbClr val="627D8C"/>
                </a:solidFill>
              </a:rPr>
              <a:t>Systematic boundaries and combinations expose what was exercised.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05BF7-83F0-4BBE-98F6-A2C192D7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290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3AA69-0A19-4064-974B-084D7DD7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194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Traceable decisions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9B1C6F-0646-48F4-B2B3-9D57364E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7190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D8C"/>
                </a:solidFill>
              </a:defRPr>
            </a:pPr>
            <a:r>
              <a:rPr sz="1275" b="0" i="0">
                <a:solidFill>
                  <a:srgbClr val="627D8C"/>
                </a:solidFill>
              </a:rPr>
              <a:t>Facts, rule paths, and citations make disagreements inspectable.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E0E0A-5FC4-4A90-90CC-14E65BBC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672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465556-3375-4ABF-A1C1-986DF885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577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Regression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B3BDCF-6F17-469C-B1E5-8DF9DE62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101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D8C"/>
                </a:solidFill>
              </a:defRPr>
            </a:pPr>
            <a:r>
              <a:rPr sz="1275" b="0" i="0">
                <a:solidFill>
                  <a:srgbClr val="627D8C"/>
                </a:solidFill>
              </a:rPr>
              <a:t>The same frozen suite tests a confirmed structured change.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ED8991-6166-47D7-A34F-7272663E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40005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7791F"/>
                </a:solidFill>
              </a:defRPr>
            </a:pPr>
            <a:r>
              <a:rPr sz="975" b="1" i="0">
                <a:solidFill>
                  <a:srgbClr val="B7791F"/>
                </a:solidFill>
              </a:rPr>
              <a:t>NO ROI OR SAVINGS CLAIM BEFORE MEASUREMENT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D4D745-ADCE-4ED4-A461-5DB6BC4B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7D8C"/>
                </a:solidFill>
              </a:defRPr>
            </a:pPr>
            <a:r>
              <a:rPr sz="1050" b="1" i="0">
                <a:solidFill>
                  <a:srgbClr val="627D8C"/>
                </a:solidFill>
              </a:rPr>
              <a:t>Future proof points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BD0F5C-C129-4201-B381-8894F503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5054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time to first actionable finding · total run time · confirmations · model calls · provider cost or N/A</a:t>
            </a:r>
          </a:p>
        </p:txBody>
      </p:sp>
    </p:spTree>
    <p:extLst>
      <p:ext uri="{BB962C8B-B14F-4D97-AF65-F5344CB8AC3E}">
        <p14:creationId xmlns:p14="http://schemas.microsoft.com/office/powerpoint/2010/main" val="8295921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78901-3A7F-48FE-9957-7B01AFFC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2BED6-F3AB-47FE-95AC-982E1CD2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DE2D7"/>
                </a:solidFill>
              </a:defRPr>
            </a:pPr>
            <a:r>
              <a:rPr sz="1125" b="1" i="0">
                <a:solidFill>
                  <a:srgbClr val="7DE2D7"/>
                </a:solidFill>
              </a:rPr>
              <a:t>09 · LIMITS, TEAM, REPOSITORY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1E40E-E109-44A8-A19E-9E7C8378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47750"/>
            <a:ext cx="7048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A narrow prototype</a:t>
            </a:r>
          </a:p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with a clear finish 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21AD7-B042-4AC4-A58B-311FF2E0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DE2D7"/>
                </a:solidFill>
              </a:defRPr>
            </a:pPr>
            <a:r>
              <a:rPr sz="1200" b="1" i="0">
                <a:solidFill>
                  <a:srgbClr val="7DE2D7"/>
                </a:solidFill>
              </a:rPr>
              <a:t>The intended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C3809-9B9E-49B1-B784-935D083A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657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D9E7EE"/>
                </a:solidFill>
              </a:defRPr>
            </a:pPr>
            <a:r>
              <a:rPr sz="1950" b="0" i="0">
                <a:solidFill>
                  <a:srgbClr val="D9E7EE"/>
                </a:solidFill>
              </a:rPr>
              <a:t>A session-confirmed structured change fixes targeted failures and introduces no protected regressions in the disclosed frozen suite.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64055-21FA-4F98-B83B-BE6AF1A2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33450"/>
            <a:ext cx="0" cy="476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7677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36F28-AE62-407C-A385-A7E2CA54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28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Limits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FE631-FACB-4CB7-9A11-D2DE53CB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62100"/>
            <a:ext cx="3105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9E7EE"/>
                </a:solidFill>
              </a:defRPr>
            </a:pPr>
            <a:r>
              <a:rPr sz="1350" b="0" i="0">
                <a:solidFill>
                  <a:srgbClr val="D9E7EE"/>
                </a:solidFill>
              </a:rPr>
              <a:t>Prototype; validation pending</a:t>
            </a:r>
          </a:p>
          <a:p xmlns:a="http://schemas.openxmlformats.org/drawingml/2006/main">
            <a:pPr algn="l">
              <a:defRPr sz="1350" b="0" i="0">
                <a:solidFill>
                  <a:srgbClr val="D9E7EE"/>
                </a:solidFill>
              </a:defRPr>
            </a:pPr>
            <a:r>
              <a:rPr sz="1350" b="0" i="0">
                <a:solidFill>
                  <a:srgbClr val="D9E7EE"/>
                </a:solidFill>
              </a:rPr>
              <a:t>Synthetic T&amp;E scope</a:t>
            </a:r>
          </a:p>
          <a:p xmlns:a="http://schemas.openxmlformats.org/drawingml/2006/main">
            <a:pPr algn="l">
              <a:defRPr sz="1350" b="0" i="0">
                <a:solidFill>
                  <a:srgbClr val="D9E7EE"/>
                </a:solidFill>
              </a:defRPr>
            </a:pPr>
            <a:r>
              <a:rPr sz="1350" b="0" i="0">
                <a:solidFill>
                  <a:srgbClr val="D9E7EE"/>
                </a:solidFill>
              </a:rPr>
              <a:t>No legal-compliance claim</a:t>
            </a:r>
          </a:p>
          <a:p xmlns:a="http://schemas.openxmlformats.org/drawingml/2006/main">
            <a:pPr algn="l">
              <a:defRPr sz="1350" b="0" i="0">
                <a:solidFill>
                  <a:srgbClr val="D9E7EE"/>
                </a:solidFill>
              </a:defRPr>
            </a:pPr>
            <a:r>
              <a:rPr sz="1350" b="0" i="0">
                <a:solidFill>
                  <a:srgbClr val="D9E7EE"/>
                </a:solidFill>
              </a:rPr>
              <a:t>No automatic publication</a:t>
            </a:r>
          </a:p>
          <a:p xmlns:a="http://schemas.openxmlformats.org/drawingml/2006/main">
            <a:pPr algn="l">
              <a:defRPr sz="1350" b="0" i="0">
                <a:solidFill>
                  <a:srgbClr val="D9E7EE"/>
                </a:solidFill>
              </a:defRPr>
            </a:pPr>
            <a:r>
              <a:rPr sz="1350" b="0" i="0">
                <a:solidFill>
                  <a:srgbClr val="D9E7EE"/>
                </a:solidFill>
              </a:rPr>
              <a:t>Human confirmation remains required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A13F5-9737-486D-ABA2-FFCBDFC2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Five-person ownership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59D63-2C69-4CF0-A329-536F853D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29050"/>
            <a:ext cx="316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9E7EE"/>
                </a:solidFill>
              </a:defRPr>
            </a:pPr>
            <a:r>
              <a:rPr sz="1275" b="0" i="0">
                <a:solidFill>
                  <a:srgbClr val="D9E7EE"/>
                </a:solidFill>
              </a:rPr>
              <a:t>P1 integration · P2 policy · P3 fuzzing</a:t>
            </a:r>
          </a:p>
          <a:p xmlns:a="http://schemas.openxmlformats.org/drawingml/2006/main">
            <a:pPr algn="l">
              <a:defRPr sz="1275" b="0" i="0">
                <a:solidFill>
                  <a:srgbClr val="D9E7EE"/>
                </a:solidFill>
              </a:defRPr>
            </a:pPr>
            <a:r>
              <a:rPr sz="1275" b="0" i="0">
                <a:solidFill>
                  <a:srgbClr val="D9E7EE"/>
                </a:solidFill>
              </a:rPr>
              <a:t>P4 evaluation · P5 product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C31A2-7412-4AE8-BFC1-4B3016D8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10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DE2D7"/>
                </a:solidFill>
              </a:defRPr>
            </a:pPr>
            <a:r>
              <a:rPr sz="1275" b="1" i="0">
                <a:solidFill>
                  <a:srgbClr val="7DE2D7"/>
                </a:solidFill>
              </a:rPr>
              <a:t>github.com/Luigi-Simon/policyfuzz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DB75C8-237D-4074-B109-1F34B3A1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18669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174A5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D7F7F2"/>
                </a:solidFill>
              </a:defRPr>
            </a:pPr>
            <a:r>
              <a:rPr sz="975" b="1" i="0">
                <a:solidFill>
                  <a:srgbClr val="D7F7F2"/>
                </a:solidFill>
              </a:rPr>
              <a:t>VALIDATION PENDING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66051-669A-4567-B320-29BA37D1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149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Next: Gate B, 6-hour freeze, browser capture, two human reviews.</a:t>
            </a:r>
          </a:p>
        </p:txBody>
      </p:sp>
    </p:spTree>
    <p:extLst>
      <p:ext uri="{BB962C8B-B14F-4D97-AF65-F5344CB8AC3E}">
        <p14:creationId xmlns:p14="http://schemas.microsoft.com/office/powerpoint/2010/main" val="8054890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2026-09-06T10:59:26.7250000Z</dcterms:created>
  <dcterms:modified xsi:type="dcterms:W3CDTF">2026-09-06T10:59:26.7250000Z</dcterms:modified>
</coreProperties>
</file>